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262B"/>
        </a:solidFill>
      </p:bgPr>
    </p:bg>
    <p:spTree>
      <p:nvGrpSpPr>
        <p:cNvPr id="1" name=""/>
        <p:cNvGrpSpPr/>
        <p:nvPr/>
      </p:nvGrpSpPr>
      <p:grpSpPr>
        <a:xfrm>
          <a:off x="0" y="0"/>
          <a:ext cx="0" cy="0"/>
          <a:chOff x="0" y="0"/>
          <a:chExt cx="0" cy="0"/>
        </a:xfrm>
      </p:grpSpPr>
      <p:sp>
        <p:nvSpPr>
          <p:cNvPr id="2" name="Shape 0"/>
          <p:cNvSpPr/>
          <p:nvPr/>
        </p:nvSpPr>
        <p:spPr>
          <a:xfrm>
            <a:off x="457200" y="1234440"/>
            <a:ext cx="1554480" cy="1554480"/>
          </a:xfrm>
          <a:prstGeom prst="roundRect">
            <a:avLst>
              <a:gd name="adj" fmla="val 10588"/>
            </a:avLst>
          </a:prstGeom>
          <a:solidFill>
            <a:srgbClr val="FFFFFF"/>
          </a:solidFill>
          <a:ln w="12700">
            <a:solidFill>
              <a:srgbClr val="FFFFFF"/>
            </a:solidFill>
            <a:prstDash val="solid"/>
          </a:ln>
        </p:spPr>
      </p:sp>
      <p:pic>
        <p:nvPicPr>
          <p:cNvPr id="3" name="Image 0" descr="preencoded.png">    </p:cNvPr>
          <p:cNvPicPr>
            <a:picLocks noChangeAspect="1"/>
          </p:cNvPicPr>
          <p:nvPr/>
        </p:nvPicPr>
        <p:blipFill>
          <a:blip r:embed="rId1"/>
          <a:stretch>
            <a:fillRect/>
          </a:stretch>
        </p:blipFill>
        <p:spPr>
          <a:xfrm>
            <a:off x="685800" y="1463040"/>
            <a:ext cx="1097280" cy="1097280"/>
          </a:xfrm>
          <a:prstGeom prst="rect">
            <a:avLst/>
          </a:prstGeom>
        </p:spPr>
      </p:pic>
      <p:sp>
        <p:nvSpPr>
          <p:cNvPr id="4" name="Text 1"/>
          <p:cNvSpPr txBox="1"/>
          <p:nvPr/>
        </p:nvSpPr>
        <p:spPr>
          <a:xfrm>
            <a:off x="2377440" y="1188720"/>
            <a:ext cx="6309360" cy="868680"/>
          </a:xfrm>
          <a:prstGeom prst="rect">
            <a:avLst/>
          </a:prstGeom>
          <a:noFill/>
          <a:ln/>
        </p:spPr>
        <p:txBody>
          <a:bodyPr wrap="square" lIns="0" tIns="0" rIns="0" bIns="0" rtlCol="0" anchor="b"/>
          <a:lstStyle/>
          <a:p>
            <a:pPr indent="0" marL="0">
              <a:buNone/>
            </a:pPr>
            <a:r>
              <a:rPr lang="en-US" sz="4400" b="1" dirty="0">
                <a:solidFill>
                  <a:srgbClr val="FFFFFF"/>
                </a:solidFill>
                <a:latin typeface="Calibri" pitchFamily="34" charset="0"/>
                <a:ea typeface="Calibri" pitchFamily="34" charset="-122"/>
                <a:cs typeface="Calibri" pitchFamily="34" charset="-120"/>
              </a:rPr>
              <a:t>Generate baseline</a:t>
            </a:r>
            <a:endParaRPr lang="en-US" sz="4400" dirty="0"/>
          </a:p>
        </p:txBody>
      </p:sp>
      <p:sp>
        <p:nvSpPr>
          <p:cNvPr id="5" name="Text 2"/>
          <p:cNvSpPr txBox="1"/>
          <p:nvPr/>
        </p:nvSpPr>
        <p:spPr>
          <a:xfrm>
            <a:off x="2377440" y="2103120"/>
            <a:ext cx="6309360" cy="822960"/>
          </a:xfrm>
          <a:prstGeom prst="rect">
            <a:avLst/>
          </a:prstGeom>
          <a:noFill/>
          <a:ln/>
        </p:spPr>
        <p:txBody>
          <a:bodyPr wrap="square" lIns="0" tIns="0" rIns="0" bIns="0" rtlCol="0" anchor="t"/>
          <a:lstStyle/>
          <a:p>
            <a:pPr indent="0" marL="0">
              <a:buNone/>
            </a:pPr>
            <a:r>
              <a:rPr lang="en-US" sz="1600" dirty="0">
                <a:solidFill>
                  <a:srgbClr val="C9CED6"/>
                </a:solidFill>
                <a:latin typeface="Calibri" pitchFamily="34" charset="0"/>
                <a:ea typeface="Calibri" pitchFamily="34" charset="-122"/>
                <a:cs typeface="Calibri" pitchFamily="34" charset="-120"/>
              </a:rPr>
              <a:t>Design the ski's unweighted side profile: a camber pocket between the rocker contact points and fore and aft rockers out to the tips -- optionally shaped by the ski's own EI.</a:t>
            </a:r>
            <a:endParaRPr lang="en-US" sz="1600" dirty="0"/>
          </a:p>
        </p:txBody>
      </p:sp>
      <p:sp>
        <p:nvSpPr>
          <p:cNvPr id="6" name="Text 3"/>
          <p:cNvSpPr txBox="1"/>
          <p:nvPr/>
        </p:nvSpPr>
        <p:spPr>
          <a:xfrm>
            <a:off x="457200" y="4320540"/>
            <a:ext cx="5486400" cy="274320"/>
          </a:xfrm>
          <a:prstGeom prst="rect">
            <a:avLst/>
          </a:prstGeom>
          <a:noFill/>
          <a:ln/>
        </p:spPr>
        <p:txBody>
          <a:bodyPr wrap="square" lIns="0" tIns="0" rIns="0" bIns="0" rtlCol="0" anchor="ctr"/>
          <a:lstStyle/>
          <a:p>
            <a:pPr indent="0" marL="0">
              <a:buNone/>
            </a:pPr>
            <a:r>
              <a:rPr lang="en-US" sz="1100" dirty="0">
                <a:solidFill>
                  <a:srgbClr val="9AA3AE"/>
                </a:solidFill>
                <a:latin typeface="Calibri" pitchFamily="34" charset="0"/>
                <a:ea typeface="Calibri" pitchFamily="34" charset="-122"/>
                <a:cs typeface="Calibri" pitchFamily="34" charset="-120"/>
              </a:rPr>
              <a:t>xSection  ·  Onshape custom feature</a:t>
            </a:r>
            <a:endParaRPr lang="en-US" sz="1100" dirty="0"/>
          </a:p>
        </p:txBody>
      </p:sp>
      <p:sp>
        <p:nvSpPr>
          <p:cNvPr id="7" name="Text 4"/>
          <p:cNvSpPr txBox="1"/>
          <p:nvPr/>
        </p:nvSpPr>
        <p:spPr>
          <a:xfrm>
            <a:off x="5943600" y="4320540"/>
            <a:ext cx="2743200" cy="274320"/>
          </a:xfrm>
          <a:prstGeom prst="rect">
            <a:avLst/>
          </a:prstGeom>
          <a:noFill/>
          <a:ln/>
        </p:spPr>
        <p:txBody>
          <a:bodyPr wrap="square" lIns="0" tIns="0" rIns="0" bIns="0" rtlCol="0" anchor="ctr"/>
          <a:lstStyle/>
          <a:p>
            <a:pPr algn="r" indent="0" marL="0">
              <a:buNone/>
            </a:pPr>
            <a:r>
              <a:rPr lang="en-US" sz="1100" dirty="0">
                <a:solidFill>
                  <a:srgbClr val="9AA3AE"/>
                </a:solidFill>
                <a:latin typeface="Calibri" pitchFamily="34" charset="0"/>
                <a:ea typeface="Calibri" pitchFamily="34" charset="-122"/>
                <a:cs typeface="Calibri" pitchFamily="34" charset="-120"/>
              </a:rPr>
              <a:t>Draft 2026-09-25</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What it does</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Generate baseline  ·  xSection</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2026-09-25</a:t>
            </a:r>
            <a:endParaRPr lang="en-US" sz="900" dirty="0"/>
          </a:p>
        </p:txBody>
      </p:sp>
      <p:sp>
        <p:nvSpPr>
          <p:cNvPr id="7" name="Text 4"/>
          <p:cNvSpPr txBox="1"/>
          <p:nvPr/>
        </p:nvSpPr>
        <p:spPr>
          <a:xfrm>
            <a:off x="457200" y="1005840"/>
            <a:ext cx="3749040" cy="1371600"/>
          </a:xfrm>
          <a:prstGeom prst="rect">
            <a:avLst/>
          </a:prstGeom>
          <a:noFill/>
          <a:ln/>
        </p:spPr>
        <p:txBody>
          <a:bodyPr wrap="square" lIns="0" tIns="0" rIns="0" bIns="0" rtlCol="0" anchor="t"/>
          <a:lstStyle/>
          <a:p>
            <a:pPr indent="0" marL="0">
              <a:buNone/>
            </a:pPr>
            <a:r>
              <a:rPr lang="en-US" sz="1400" dirty="0">
                <a:solidFill>
                  <a:srgbClr val="1F2329"/>
                </a:solidFill>
                <a:latin typeface="Calibri" pitchFamily="34" charset="0"/>
                <a:ea typeface="Calibri" pitchFamily="34" charset="-122"/>
                <a:cs typeface="Calibri" pitchFamily="34" charset="-120"/>
              </a:rPr>
              <a:t>A baseline is a handful of targets -- camber height, rocker lengths, tip heights -- that must meet in one smooth curve. Generate baseline builds it from those numbers, levels it on its rocker low points, and can shape the camber as the ski actually bends.</a:t>
            </a:r>
            <a:endParaRPr lang="en-US" sz="1400" dirty="0"/>
          </a:p>
        </p:txBody>
      </p:sp>
      <p:sp>
        <p:nvSpPr>
          <p:cNvPr id="8" name="Text 5"/>
          <p:cNvSpPr txBox="1"/>
          <p:nvPr/>
        </p:nvSpPr>
        <p:spPr>
          <a:xfrm>
            <a:off x="457200" y="2468880"/>
            <a:ext cx="3749040" cy="274320"/>
          </a:xfrm>
          <a:prstGeom prst="rect">
            <a:avLst/>
          </a:prstGeom>
          <a:noFill/>
          <a:ln/>
        </p:spPr>
        <p:txBody>
          <a:bodyPr wrap="square" lIns="0" tIns="0" rIns="0" bIns="0" rtlCol="0" anchor="ctr"/>
          <a:lstStyle/>
          <a:p>
            <a:pPr indent="0" marL="0">
              <a:buNone/>
            </a:pPr>
            <a:r>
              <a:rPr lang="en-US" sz="1300" b="1" dirty="0">
                <a:solidFill>
                  <a:srgbClr val="1651B0"/>
                </a:solidFill>
                <a:latin typeface="Calibri" pitchFamily="34" charset="0"/>
                <a:ea typeface="Calibri" pitchFamily="34" charset="-122"/>
                <a:cs typeface="Calibri" pitchFamily="34" charset="-120"/>
              </a:rPr>
              <a:t>Use it when</a:t>
            </a:r>
            <a:endParaRPr lang="en-US" sz="1300" dirty="0"/>
          </a:p>
        </p:txBody>
      </p:sp>
      <p:sp>
        <p:nvSpPr>
          <p:cNvPr id="9" name="Text 6"/>
          <p:cNvSpPr txBox="1"/>
          <p:nvPr/>
        </p:nvSpPr>
        <p:spPr>
          <a:xfrm>
            <a:off x="457200" y="2761488"/>
            <a:ext cx="3749040" cy="173736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329"/>
                </a:solidFill>
                <a:latin typeface="Calibri" pitchFamily="34" charset="0"/>
                <a:ea typeface="Calibri" pitchFamily="34" charset="-122"/>
                <a:cs typeface="Calibri" pitchFamily="34" charset="-120"/>
              </a:rPr>
              <a:t>Start a new ski's side profile</a:t>
            </a:r>
            <a:endParaRPr lang="en-US" sz="1250" dirty="0"/>
          </a:p>
          <a:p>
            <a:pPr marL="177800" indent="-177800">
              <a:spcAft>
                <a:spcPts val="600"/>
              </a:spcAft>
              <a:buSzPct val="100000"/>
              <a:buChar char="•"/>
            </a:pPr>
            <a:r>
              <a:rPr lang="en-US" sz="1250" dirty="0">
                <a:solidFill>
                  <a:srgbClr val="1F2329"/>
                </a:solidFill>
                <a:latin typeface="Calibri" pitchFamily="34" charset="0"/>
                <a:ea typeface="Calibri" pitchFamily="34" charset="-122"/>
                <a:cs typeface="Calibri" pitchFamily="34" charset="-120"/>
              </a:rPr>
              <a:t>Try camber / rocker targets quickly</a:t>
            </a:r>
            <a:endParaRPr lang="en-US" sz="1250" dirty="0"/>
          </a:p>
          <a:p>
            <a:pPr marL="177800" indent="-177800">
              <a:spcAft>
                <a:spcPts val="600"/>
              </a:spcAft>
              <a:buSzPct val="100000"/>
              <a:buChar char="•"/>
            </a:pPr>
            <a:r>
              <a:rPr lang="en-US" sz="1250" dirty="0">
                <a:solidFill>
                  <a:srgbClr val="1F2329"/>
                </a:solidFill>
                <a:latin typeface="Calibri" pitchFamily="34" charset="0"/>
                <a:ea typeface="Calibri" pitchFamily="34" charset="-122"/>
                <a:cs typeface="Calibri" pitchFamily="34" charset="-120"/>
              </a:rPr>
              <a:t>Shape the camber from the real EI</a:t>
            </a:r>
            <a:endParaRPr lang="en-US" sz="1250" dirty="0"/>
          </a:p>
        </p:txBody>
      </p:sp>
      <p:pic>
        <p:nvPicPr>
          <p:cNvPr id="10" name="Image 1" descr="C:\Users\jed.yeiser\documents\featurescripts\docs\explainers\xsection\img\fig06_baseline.png">    </p:cNvPr>
          <p:cNvPicPr>
            <a:picLocks noChangeAspect="1"/>
          </p:cNvPicPr>
          <p:nvPr/>
        </p:nvPicPr>
        <p:blipFill>
          <a:blip r:embed="rId2"/>
          <a:stretch>
            <a:fillRect/>
          </a:stretch>
        </p:blipFill>
        <p:spPr>
          <a:xfrm>
            <a:off x="4480560" y="1622928"/>
            <a:ext cx="4206240" cy="1920505"/>
          </a:xfrm>
          <a:prstGeom prst="rect">
            <a:avLst/>
          </a:prstGeom>
        </p:spPr>
      </p:pic>
      <p:sp>
        <p:nvSpPr>
          <p:cNvPr id="11" name="Text 7"/>
          <p:cNvSpPr txBox="1"/>
          <p:nvPr/>
        </p:nvSpPr>
        <p:spPr>
          <a:xfrm>
            <a:off x="4480560" y="4224528"/>
            <a:ext cx="4206240" cy="365760"/>
          </a:xfrm>
          <a:prstGeom prst="rect">
            <a:avLst/>
          </a:prstGeom>
          <a:noFill/>
          <a:ln/>
        </p:spPr>
        <p:txBody>
          <a:bodyPr wrap="square" lIns="0" tIns="0" rIns="0" bIns="0" rtlCol="0" anchor="ctr"/>
          <a:lstStyle/>
          <a:p>
            <a:pPr indent="0" marL="0">
              <a:buNone/>
            </a:pPr>
            <a:r>
              <a:rPr lang="en-US" sz="1000" i="1" dirty="0">
                <a:solidFill>
                  <a:srgbClr val="52514E"/>
                </a:solidFill>
                <a:latin typeface="Calibri" pitchFamily="34" charset="0"/>
                <a:ea typeface="Calibri" pitchFamily="34" charset="-122"/>
                <a:cs typeface="Calibri" pitchFamily="34" charset="-120"/>
              </a:rPr>
              <a:t>Test studio: NewTestBaseline, three edges (Z exaggerated 60 x).</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Camber and rocker</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Generate baseline  ·  xSection</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2026-09-25</a:t>
            </a:r>
            <a:endParaRPr lang="en-US" sz="900" dirty="0"/>
          </a:p>
        </p:txBody>
      </p:sp>
      <p:pic>
        <p:nvPicPr>
          <p:cNvPr id="7" name="Image 1" descr="C:\Users\jed.yeiser\documents\featurescripts\docs\explainers\xsection\img\fig07_rocker_construction.png">    </p:cNvPr>
          <p:cNvPicPr>
            <a:picLocks noChangeAspect="1"/>
          </p:cNvPicPr>
          <p:nvPr/>
        </p:nvPicPr>
        <p:blipFill>
          <a:blip r:embed="rId2"/>
          <a:stretch>
            <a:fillRect/>
          </a:stretch>
        </p:blipFill>
        <p:spPr>
          <a:xfrm>
            <a:off x="2164093" y="914400"/>
            <a:ext cx="4815815" cy="2514600"/>
          </a:xfrm>
          <a:prstGeom prst="rect">
            <a:avLst/>
          </a:prstGeom>
        </p:spPr>
      </p:pic>
      <p:sp>
        <p:nvSpPr>
          <p:cNvPr id="8" name="Shape 4"/>
          <p:cNvSpPr/>
          <p:nvPr/>
        </p:nvSpPr>
        <p:spPr>
          <a:xfrm>
            <a:off x="457200" y="3566160"/>
            <a:ext cx="2590800" cy="914400"/>
          </a:xfrm>
          <a:prstGeom prst="roundRect">
            <a:avLst>
              <a:gd name="adj" fmla="val 6000"/>
            </a:avLst>
          </a:prstGeom>
          <a:solidFill>
            <a:srgbClr val="F3F5F8"/>
          </a:solidFill>
          <a:ln w="12700">
            <a:solidFill>
              <a:srgbClr val="F3F5F8"/>
            </a:solidFill>
            <a:prstDash val="solid"/>
          </a:ln>
        </p:spPr>
      </p:sp>
      <p:sp>
        <p:nvSpPr>
          <p:cNvPr id="9" name="Text 5"/>
          <p:cNvSpPr txBox="1"/>
          <p:nvPr/>
        </p:nvSpPr>
        <p:spPr>
          <a:xfrm>
            <a:off x="566928" y="3621024"/>
            <a:ext cx="2371344" cy="804672"/>
          </a:xfrm>
          <a:prstGeom prst="rect">
            <a:avLst/>
          </a:prstGeom>
          <a:noFill/>
          <a:ln/>
        </p:spPr>
        <p:txBody>
          <a:bodyPr wrap="square" lIns="0" tIns="0" rIns="0" bIns="0" rtlCol="0" anchor="t"/>
          <a:lstStyle/>
          <a:p>
            <a:pPr indent="0" marL="0">
              <a:buNone/>
            </a:pPr>
            <a:r>
              <a:rPr lang="en-US" sz="1100" b="1" dirty="0">
                <a:solidFill>
                  <a:srgbClr val="1651B0"/>
                </a:solidFill>
                <a:latin typeface="Calibri" pitchFamily="34" charset="0"/>
                <a:ea typeface="Calibri" pitchFamily="34" charset="-122"/>
                <a:cs typeface="Calibri" pitchFamily="34" charset="-120"/>
              </a:rPr>
              <a:t>Camber pocket</a:t>
            </a:r>
            <a:endParaRPr lang="en-US" sz="1100" dirty="0"/>
          </a:p>
          <a:p>
            <a:pPr indent="0" marL="0">
              <a:buNone/>
            </a:pPr>
            <a:r>
              <a:rPr lang="en-US" sz="1100" dirty="0">
                <a:solidFill>
                  <a:srgbClr val="1F2329"/>
                </a:solidFill>
                <a:latin typeface="Calibri" pitchFamily="34" charset="0"/>
                <a:ea typeface="Calibri" pitchFamily="34" charset="-122"/>
                <a:cs typeface="Calibri" pitchFamily="34" charset="-120"/>
              </a:rPr>
              <a:t>Pinned at FRCP and ARCP. With EI: the bending shape under a load at the mount. Without: a cubic peaking at the mount.</a:t>
            </a:r>
            <a:endParaRPr lang="en-US" sz="1100" dirty="0"/>
          </a:p>
        </p:txBody>
      </p:sp>
      <p:sp>
        <p:nvSpPr>
          <p:cNvPr id="10" name="Shape 6"/>
          <p:cNvSpPr/>
          <p:nvPr/>
        </p:nvSpPr>
        <p:spPr>
          <a:xfrm>
            <a:off x="3276600" y="3566160"/>
            <a:ext cx="2590800" cy="914400"/>
          </a:xfrm>
          <a:prstGeom prst="roundRect">
            <a:avLst>
              <a:gd name="adj" fmla="val 6000"/>
            </a:avLst>
          </a:prstGeom>
          <a:solidFill>
            <a:srgbClr val="F3F5F8"/>
          </a:solidFill>
          <a:ln w="12700">
            <a:solidFill>
              <a:srgbClr val="F3F5F8"/>
            </a:solidFill>
            <a:prstDash val="solid"/>
          </a:ln>
        </p:spPr>
      </p:sp>
      <p:sp>
        <p:nvSpPr>
          <p:cNvPr id="11" name="Text 7"/>
          <p:cNvSpPr txBox="1"/>
          <p:nvPr/>
        </p:nvSpPr>
        <p:spPr>
          <a:xfrm>
            <a:off x="3386328" y="3621024"/>
            <a:ext cx="2371344" cy="804672"/>
          </a:xfrm>
          <a:prstGeom prst="rect">
            <a:avLst/>
          </a:prstGeom>
          <a:noFill/>
          <a:ln/>
        </p:spPr>
        <p:txBody>
          <a:bodyPr wrap="square" lIns="0" tIns="0" rIns="0" bIns="0" rtlCol="0" anchor="t"/>
          <a:lstStyle/>
          <a:p>
            <a:pPr indent="0" marL="0">
              <a:buNone/>
            </a:pPr>
            <a:r>
              <a:rPr lang="en-US" sz="1100" b="1" dirty="0">
                <a:solidFill>
                  <a:srgbClr val="1651B0"/>
                </a:solidFill>
                <a:latin typeface="Calibri" pitchFamily="34" charset="0"/>
                <a:ea typeface="Calibri" pitchFamily="34" charset="-122"/>
                <a:cs typeface="Calibri" pitchFamily="34" charset="-120"/>
              </a:rPr>
              <a:t>Rocker</a:t>
            </a:r>
            <a:endParaRPr lang="en-US" sz="1100" dirty="0"/>
          </a:p>
          <a:p>
            <a:pPr indent="0" marL="0">
              <a:buNone/>
            </a:pPr>
            <a:r>
              <a:rPr lang="en-US" sz="1100" dirty="0">
                <a:solidFill>
                  <a:srgbClr val="1F2329"/>
                </a:solidFill>
                <a:latin typeface="Calibri" pitchFamily="34" charset="0"/>
                <a:ea typeface="Calibri" pitchFamily="34" charset="-122"/>
                <a:cs typeface="Calibri" pitchFamily="34" charset="-120"/>
              </a:rPr>
              <a:t>A quadratic leaving FRCP tangent to the camber, ending FCP height below that tangent (measured normal to it).</a:t>
            </a:r>
            <a:endParaRPr lang="en-US" sz="1100" dirty="0"/>
          </a:p>
        </p:txBody>
      </p:sp>
      <p:sp>
        <p:nvSpPr>
          <p:cNvPr id="12" name="Shape 8"/>
          <p:cNvSpPr/>
          <p:nvPr/>
        </p:nvSpPr>
        <p:spPr>
          <a:xfrm>
            <a:off x="6096000" y="3566160"/>
            <a:ext cx="2590800" cy="914400"/>
          </a:xfrm>
          <a:prstGeom prst="roundRect">
            <a:avLst>
              <a:gd name="adj" fmla="val 6000"/>
            </a:avLst>
          </a:prstGeom>
          <a:solidFill>
            <a:srgbClr val="F3F5F8"/>
          </a:solidFill>
          <a:ln w="12700">
            <a:solidFill>
              <a:srgbClr val="F3F5F8"/>
            </a:solidFill>
            <a:prstDash val="solid"/>
          </a:ln>
        </p:spPr>
      </p:sp>
      <p:sp>
        <p:nvSpPr>
          <p:cNvPr id="13" name="Text 9"/>
          <p:cNvSpPr txBox="1"/>
          <p:nvPr/>
        </p:nvSpPr>
        <p:spPr>
          <a:xfrm>
            <a:off x="6205728" y="3621024"/>
            <a:ext cx="2371344" cy="804672"/>
          </a:xfrm>
          <a:prstGeom prst="rect">
            <a:avLst/>
          </a:prstGeom>
          <a:noFill/>
          <a:ln/>
        </p:spPr>
        <p:txBody>
          <a:bodyPr wrap="square" lIns="0" tIns="0" rIns="0" bIns="0" rtlCol="0" anchor="t"/>
          <a:lstStyle/>
          <a:p>
            <a:pPr indent="0" marL="0">
              <a:buNone/>
            </a:pPr>
            <a:r>
              <a:rPr lang="en-US" sz="1100" b="1" dirty="0">
                <a:solidFill>
                  <a:srgbClr val="1651B0"/>
                </a:solidFill>
                <a:latin typeface="Calibri" pitchFamily="34" charset="0"/>
                <a:ea typeface="Calibri" pitchFamily="34" charset="-122"/>
                <a:cs typeface="Calibri" pitchFamily="34" charset="-120"/>
              </a:rPr>
              <a:t>Levelled</a:t>
            </a:r>
            <a:endParaRPr lang="en-US" sz="1100" dirty="0"/>
          </a:p>
          <a:p>
            <a:pPr indent="0" marL="0">
              <a:buNone/>
            </a:pPr>
            <a:r>
              <a:rPr lang="en-US" sz="1100" dirty="0">
                <a:solidFill>
                  <a:srgbClr val="1F2329"/>
                </a:solidFill>
                <a:latin typeface="Calibri" pitchFamily="34" charset="0"/>
                <a:ea typeface="Calibri" pitchFamily="34" charset="-122"/>
                <a:cs typeface="Calibri" pitchFamily="34" charset="-120"/>
              </a:rPr>
              <a:t>Rotated about the mount so both low points share Z; camber re-measured and corrected to 0.001 mm.</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The dialog  (1/2)</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Generate baseline  ·  xSection</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2026-09-25</a:t>
            </a:r>
            <a:endParaRPr lang="en-US" sz="900" dirty="0"/>
          </a:p>
        </p:txBody>
      </p:sp>
      <p:pic>
        <p:nvPicPr>
          <p:cNvPr id="7" name="Image 1" descr="C:\Users\jed.yeiser\documents\featurescripts\docs\tooling\_render\_crops\generate_baseline_0.png">    </p:cNvPr>
          <p:cNvPicPr>
            <a:picLocks noChangeAspect="1"/>
          </p:cNvPicPr>
          <p:nvPr/>
        </p:nvPicPr>
        <p:blipFill>
          <a:blip r:embed="rId2"/>
          <a:stretch>
            <a:fillRect/>
          </a:stretch>
        </p:blipFill>
        <p:spPr>
          <a:xfrm>
            <a:off x="777240" y="914400"/>
            <a:ext cx="1771714" cy="3611880"/>
          </a:xfrm>
          <a:prstGeom prst="rect">
            <a:avLst/>
          </a:prstGeom>
        </p:spPr>
      </p:pic>
      <p:sp>
        <p:nvSpPr>
          <p:cNvPr id="8" name="Shape 4"/>
          <p:cNvSpPr/>
          <p:nvPr/>
        </p:nvSpPr>
        <p:spPr>
          <a:xfrm>
            <a:off x="777240" y="914400"/>
            <a:ext cx="1771714" cy="3611880"/>
          </a:xfrm>
          <a:prstGeom prst="rect">
            <a:avLst/>
          </a:prstGeom>
          <a:ln w="9525">
            <a:solidFill>
              <a:srgbClr val="D9D6CF"/>
            </a:solidFill>
            <a:prstDash val="solid"/>
          </a:ln>
        </p:spPr>
      </p:sp>
      <p:sp>
        <p:nvSpPr>
          <p:cNvPr id="9" name="Shape 5"/>
          <p:cNvSpPr/>
          <p:nvPr/>
        </p:nvSpPr>
        <p:spPr>
          <a:xfrm>
            <a:off x="475488" y="1128032"/>
            <a:ext cx="237744" cy="237744"/>
          </a:xfrm>
          <a:prstGeom prst="ellipse">
            <a:avLst/>
          </a:prstGeom>
          <a:solidFill>
            <a:srgbClr val="1651B0"/>
          </a:solidFill>
          <a:ln w="12700">
            <a:solidFill>
              <a:srgbClr val="FFFFFF"/>
            </a:solidFill>
            <a:prstDash val="solid"/>
          </a:ln>
        </p:spPr>
      </p:sp>
      <p:sp>
        <p:nvSpPr>
          <p:cNvPr id="10" name="Text 6"/>
          <p:cNvSpPr txBox="1"/>
          <p:nvPr/>
        </p:nvSpPr>
        <p:spPr>
          <a:xfrm>
            <a:off x="475488" y="112803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Shape 7"/>
          <p:cNvSpPr/>
          <p:nvPr/>
        </p:nvSpPr>
        <p:spPr>
          <a:xfrm>
            <a:off x="475488" y="1347532"/>
            <a:ext cx="237744" cy="237744"/>
          </a:xfrm>
          <a:prstGeom prst="ellipse">
            <a:avLst/>
          </a:prstGeom>
          <a:solidFill>
            <a:srgbClr val="1651B0"/>
          </a:solidFill>
          <a:ln w="12700">
            <a:solidFill>
              <a:srgbClr val="FFFFFF"/>
            </a:solidFill>
            <a:prstDash val="solid"/>
          </a:ln>
        </p:spPr>
      </p:sp>
      <p:sp>
        <p:nvSpPr>
          <p:cNvPr id="12" name="Text 8"/>
          <p:cNvSpPr txBox="1"/>
          <p:nvPr/>
        </p:nvSpPr>
        <p:spPr>
          <a:xfrm>
            <a:off x="475488" y="134753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3" name="Shape 9"/>
          <p:cNvSpPr/>
          <p:nvPr/>
        </p:nvSpPr>
        <p:spPr>
          <a:xfrm>
            <a:off x="475488" y="1585776"/>
            <a:ext cx="237744" cy="237744"/>
          </a:xfrm>
          <a:prstGeom prst="ellipse">
            <a:avLst/>
          </a:prstGeom>
          <a:solidFill>
            <a:srgbClr val="1651B0"/>
          </a:solidFill>
          <a:ln w="12700">
            <a:solidFill>
              <a:srgbClr val="FFFFFF"/>
            </a:solidFill>
            <a:prstDash val="solid"/>
          </a:ln>
        </p:spPr>
      </p:sp>
      <p:sp>
        <p:nvSpPr>
          <p:cNvPr id="14" name="Text 10"/>
          <p:cNvSpPr txBox="1"/>
          <p:nvPr/>
        </p:nvSpPr>
        <p:spPr>
          <a:xfrm>
            <a:off x="475488" y="1585776"/>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5" name="Shape 11"/>
          <p:cNvSpPr/>
          <p:nvPr/>
        </p:nvSpPr>
        <p:spPr>
          <a:xfrm>
            <a:off x="475488" y="1967168"/>
            <a:ext cx="237744" cy="237744"/>
          </a:xfrm>
          <a:prstGeom prst="ellipse">
            <a:avLst/>
          </a:prstGeom>
          <a:solidFill>
            <a:srgbClr val="1651B0"/>
          </a:solidFill>
          <a:ln w="12700">
            <a:solidFill>
              <a:srgbClr val="FFFFFF"/>
            </a:solidFill>
            <a:prstDash val="solid"/>
          </a:ln>
        </p:spPr>
      </p:sp>
      <p:sp>
        <p:nvSpPr>
          <p:cNvPr id="16" name="Text 12"/>
          <p:cNvSpPr txBox="1"/>
          <p:nvPr/>
        </p:nvSpPr>
        <p:spPr>
          <a:xfrm>
            <a:off x="475488" y="196716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7" name="Shape 13"/>
          <p:cNvSpPr/>
          <p:nvPr/>
        </p:nvSpPr>
        <p:spPr>
          <a:xfrm>
            <a:off x="475488" y="2348559"/>
            <a:ext cx="237744" cy="237744"/>
          </a:xfrm>
          <a:prstGeom prst="ellipse">
            <a:avLst/>
          </a:prstGeom>
          <a:solidFill>
            <a:srgbClr val="1651B0"/>
          </a:solidFill>
          <a:ln w="12700">
            <a:solidFill>
              <a:srgbClr val="FFFFFF"/>
            </a:solidFill>
            <a:prstDash val="solid"/>
          </a:ln>
        </p:spPr>
      </p:sp>
      <p:sp>
        <p:nvSpPr>
          <p:cNvPr id="18" name="Text 14"/>
          <p:cNvSpPr txBox="1"/>
          <p:nvPr/>
        </p:nvSpPr>
        <p:spPr>
          <a:xfrm>
            <a:off x="475488" y="2348559"/>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19" name="Shape 15"/>
          <p:cNvSpPr/>
          <p:nvPr/>
        </p:nvSpPr>
        <p:spPr>
          <a:xfrm>
            <a:off x="475488" y="2758895"/>
            <a:ext cx="237744" cy="237744"/>
          </a:xfrm>
          <a:prstGeom prst="ellipse">
            <a:avLst/>
          </a:prstGeom>
          <a:solidFill>
            <a:srgbClr val="1651B0"/>
          </a:solidFill>
          <a:ln w="12700">
            <a:solidFill>
              <a:srgbClr val="FFFFFF"/>
            </a:solidFill>
            <a:prstDash val="solid"/>
          </a:ln>
        </p:spPr>
      </p:sp>
      <p:sp>
        <p:nvSpPr>
          <p:cNvPr id="20" name="Text 16"/>
          <p:cNvSpPr txBox="1"/>
          <p:nvPr/>
        </p:nvSpPr>
        <p:spPr>
          <a:xfrm>
            <a:off x="475488" y="2758895"/>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840480" y="914400"/>
          <a:ext cx="4846320" cy="914400"/>
        </p:xfrm>
        <a:graphic>
          <a:graphicData uri="http://schemas.openxmlformats.org/drawingml/2006/table">
            <a:tbl>
              <a:tblPr/>
              <a:tblGrid>
                <a:gridCol w="320040"/>
                <a:gridCol w="1453896"/>
                <a:gridCol w="3072384"/>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Parameter</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means</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Output type</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Curve per region (3 edges, one wire) or Single curve.</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Output curve name</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Default 'Baseline'.</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FCP</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Front contact point (X only).</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ACP</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Aft contact point (X only).</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Mount / load point</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Between FCP and ACP: where camber height is measured and the load acts.</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Baseline targets</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Camber height (0-15 mm), fore / aft rocker length, optional low-point distance, FCP / ACP height.</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The dialog  (2/2)</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Generate baseline  ·  xSection</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2026-09-25</a:t>
            </a:r>
            <a:endParaRPr lang="en-US" sz="900" dirty="0"/>
          </a:p>
        </p:txBody>
      </p:sp>
      <p:pic>
        <p:nvPicPr>
          <p:cNvPr id="7" name="Image 1" descr="C:\Users\jed.yeiser\documents\featurescripts\docs\tooling\_render\_crops\generate_baseline_1.png">    </p:cNvPr>
          <p:cNvPicPr>
            <a:picLocks noChangeAspect="1"/>
          </p:cNvPicPr>
          <p:nvPr/>
        </p:nvPicPr>
        <p:blipFill>
          <a:blip r:embed="rId2"/>
          <a:stretch>
            <a:fillRect/>
          </a:stretch>
        </p:blipFill>
        <p:spPr>
          <a:xfrm>
            <a:off x="777240" y="914400"/>
            <a:ext cx="2740047" cy="3611880"/>
          </a:xfrm>
          <a:prstGeom prst="rect">
            <a:avLst/>
          </a:prstGeom>
        </p:spPr>
      </p:pic>
      <p:sp>
        <p:nvSpPr>
          <p:cNvPr id="8" name="Shape 4"/>
          <p:cNvSpPr/>
          <p:nvPr/>
        </p:nvSpPr>
        <p:spPr>
          <a:xfrm>
            <a:off x="777240" y="914400"/>
            <a:ext cx="2740047" cy="3611880"/>
          </a:xfrm>
          <a:prstGeom prst="rect">
            <a:avLst/>
          </a:prstGeom>
          <a:ln w="9525">
            <a:solidFill>
              <a:srgbClr val="D9D6CF"/>
            </a:solidFill>
            <a:prstDash val="solid"/>
          </a:ln>
        </p:spPr>
      </p:sp>
      <p:sp>
        <p:nvSpPr>
          <p:cNvPr id="9" name="Shape 5"/>
          <p:cNvSpPr/>
          <p:nvPr/>
        </p:nvSpPr>
        <p:spPr>
          <a:xfrm>
            <a:off x="475488" y="905621"/>
            <a:ext cx="237744" cy="237744"/>
          </a:xfrm>
          <a:prstGeom prst="ellipse">
            <a:avLst/>
          </a:prstGeom>
          <a:solidFill>
            <a:srgbClr val="1651B0"/>
          </a:solidFill>
          <a:ln w="12700">
            <a:solidFill>
              <a:srgbClr val="FFFFFF"/>
            </a:solidFill>
            <a:prstDash val="solid"/>
          </a:ln>
        </p:spPr>
      </p:sp>
      <p:sp>
        <p:nvSpPr>
          <p:cNvPr id="10" name="Text 6"/>
          <p:cNvSpPr txBox="1"/>
          <p:nvPr/>
        </p:nvSpPr>
        <p:spPr>
          <a:xfrm>
            <a:off x="475488" y="905621"/>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11" name="Shape 7"/>
          <p:cNvSpPr/>
          <p:nvPr/>
        </p:nvSpPr>
        <p:spPr>
          <a:xfrm>
            <a:off x="475488" y="1897265"/>
            <a:ext cx="237744" cy="237744"/>
          </a:xfrm>
          <a:prstGeom prst="ellipse">
            <a:avLst/>
          </a:prstGeom>
          <a:solidFill>
            <a:srgbClr val="1651B0"/>
          </a:solidFill>
          <a:ln w="12700">
            <a:solidFill>
              <a:srgbClr val="FFFFFF"/>
            </a:solidFill>
            <a:prstDash val="solid"/>
          </a:ln>
        </p:spPr>
      </p:sp>
      <p:sp>
        <p:nvSpPr>
          <p:cNvPr id="12" name="Text 8"/>
          <p:cNvSpPr txBox="1"/>
          <p:nvPr/>
        </p:nvSpPr>
        <p:spPr>
          <a:xfrm>
            <a:off x="475488" y="1897265"/>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13" name="Shape 9"/>
          <p:cNvSpPr/>
          <p:nvPr/>
        </p:nvSpPr>
        <p:spPr>
          <a:xfrm>
            <a:off x="475488" y="3208563"/>
            <a:ext cx="237744" cy="237744"/>
          </a:xfrm>
          <a:prstGeom prst="ellipse">
            <a:avLst/>
          </a:prstGeom>
          <a:solidFill>
            <a:srgbClr val="1651B0"/>
          </a:solidFill>
          <a:ln w="12700">
            <a:solidFill>
              <a:srgbClr val="FFFFFF"/>
            </a:solidFill>
            <a:prstDash val="solid"/>
          </a:ln>
        </p:spPr>
      </p:sp>
      <p:sp>
        <p:nvSpPr>
          <p:cNvPr id="14" name="Text 10"/>
          <p:cNvSpPr txBox="1"/>
          <p:nvPr/>
        </p:nvSpPr>
        <p:spPr>
          <a:xfrm>
            <a:off x="475488" y="3208563"/>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15" name="Shape 11"/>
          <p:cNvSpPr/>
          <p:nvPr/>
        </p:nvSpPr>
        <p:spPr>
          <a:xfrm>
            <a:off x="475488" y="3548644"/>
            <a:ext cx="237744" cy="237744"/>
          </a:xfrm>
          <a:prstGeom prst="ellipse">
            <a:avLst/>
          </a:prstGeom>
          <a:solidFill>
            <a:srgbClr val="1651B0"/>
          </a:solidFill>
          <a:ln w="12700">
            <a:solidFill>
              <a:srgbClr val="FFFFFF"/>
            </a:solidFill>
            <a:prstDash val="solid"/>
          </a:ln>
        </p:spPr>
      </p:sp>
      <p:sp>
        <p:nvSpPr>
          <p:cNvPr id="16" name="Text 12"/>
          <p:cNvSpPr txBox="1"/>
          <p:nvPr/>
        </p:nvSpPr>
        <p:spPr>
          <a:xfrm>
            <a:off x="475488" y="3548644"/>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17" name="Shape 13"/>
          <p:cNvSpPr/>
          <p:nvPr/>
        </p:nvSpPr>
        <p:spPr>
          <a:xfrm>
            <a:off x="475488" y="3888726"/>
            <a:ext cx="237744" cy="237744"/>
          </a:xfrm>
          <a:prstGeom prst="ellipse">
            <a:avLst/>
          </a:prstGeom>
          <a:solidFill>
            <a:srgbClr val="1651B0"/>
          </a:solidFill>
          <a:ln w="12700">
            <a:solidFill>
              <a:srgbClr val="FFFFFF"/>
            </a:solidFill>
            <a:prstDash val="solid"/>
          </a:ln>
        </p:spPr>
      </p:sp>
      <p:sp>
        <p:nvSpPr>
          <p:cNvPr id="18" name="Text 14"/>
          <p:cNvSpPr txBox="1"/>
          <p:nvPr/>
        </p:nvSpPr>
        <p:spPr>
          <a:xfrm>
            <a:off x="475488" y="3888726"/>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840480" y="914400"/>
          <a:ext cx="4846320" cy="914400"/>
        </p:xfrm>
        <a:graphic>
          <a:graphicData uri="http://schemas.openxmlformats.org/drawingml/2006/table">
            <a:tbl>
              <a:tblPr/>
              <a:tblGrid>
                <a:gridCol w="320040"/>
                <a:gridCol w="1453896"/>
                <a:gridCol w="3072384"/>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Parameter</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means</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Use EI profile</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 EI edges: camber = the ski's real bending shape.</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Spline output</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Tolerance, max control points, degree.</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Add baseline sketch</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The measurement sketch (as Analyze baseline draws).</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Create weighted baseline</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A second wire: camber flattened, rockers rotated with it.</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11</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Debug</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Print setup, solver passes, analysis.</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Example: NewTestBaseline</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Generate baseline  ·  xSection</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2026-09-25</a:t>
            </a:r>
            <a:endParaRPr lang="en-US" sz="900" dirty="0"/>
          </a:p>
        </p:txBody>
      </p:sp>
      <p:pic>
        <p:nvPicPr>
          <p:cNvPr id="7" name="Image 1" descr="C:\Users\jed.yeiser\documents\featurescripts\docs\explainers\xsection\img\fig06_baseline.png">    </p:cNvPr>
          <p:cNvPicPr>
            <a:picLocks noChangeAspect="1"/>
          </p:cNvPicPr>
          <p:nvPr/>
        </p:nvPicPr>
        <p:blipFill>
          <a:blip r:embed="rId2"/>
          <a:stretch>
            <a:fillRect/>
          </a:stretch>
        </p:blipFill>
        <p:spPr>
          <a:xfrm>
            <a:off x="1818294" y="914400"/>
            <a:ext cx="5507412" cy="2514600"/>
          </a:xfrm>
          <a:prstGeom prst="rect">
            <a:avLst/>
          </a:prstGeom>
        </p:spPr>
      </p:pic>
      <p:sp>
        <p:nvSpPr>
          <p:cNvPr id="8" name="Text 4"/>
          <p:cNvSpPr txBox="1"/>
          <p:nvPr/>
        </p:nvSpPr>
        <p:spPr>
          <a:xfrm>
            <a:off x="457200" y="3520440"/>
            <a:ext cx="8229600" cy="1097280"/>
          </a:xfrm>
          <a:prstGeom prst="rect">
            <a:avLst/>
          </a:prstGeom>
          <a:noFill/>
          <a:ln/>
        </p:spPr>
        <p:txBody>
          <a:bodyPr wrap="square" lIns="0" tIns="0" rIns="0" bIns="0" rtlCol="0" anchor="t"/>
          <a:lstStyle/>
          <a:p>
            <a:pPr indent="0" marL="0">
              <a:buNone/>
            </a:pPr>
            <a:r>
              <a:rPr lang="en-US" sz="1250" b="1" dirty="0">
                <a:solidFill>
                  <a:srgbClr val="1F2329"/>
                </a:solidFill>
                <a:latin typeface="Calibri" pitchFamily="34" charset="0"/>
                <a:ea typeface="Calibri" pitchFamily="34" charset="-122"/>
                <a:cs typeface="Calibri" pitchFamily="34" charset="-120"/>
              </a:rPr>
              <a:t>Camber 5 mm, rockers 200 / 200, FCP height 10, ACP height 6, Use EI profile on</a:t>
            </a:r>
            <a:endParaRPr lang="en-US" sz="1250" dirty="0"/>
          </a:p>
          <a:p>
            <a:pPr indent="0" marL="0">
              <a:buNone/>
            </a:pPr>
            <a:r>
              <a:rPr lang="en-US" sz="1250" dirty="0">
                <a:solidFill>
                  <a:srgbClr val="52514E"/>
                </a:solidFill>
                <a:latin typeface="Calibri" pitchFamily="34" charset="0"/>
                <a:ea typeface="Calibri" pitchFamily="34" charset="-122"/>
                <a:cs typeface="Calibri" pitchFamily="34" charset="-120"/>
              </a:rPr>
              <a:t>Camber exactly 5.0 mm at the mount (x = 0). The tips end 7.2 and 3.6 mm above the low points: tip height is measured from the camber tangent, not from Z = 0.</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Outputs and messages</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Generate baseline  ·  xSection</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2026-09-25</a:t>
            </a:r>
            <a:endParaRPr lang="en-US" sz="900" dirty="0"/>
          </a:p>
        </p:txBody>
      </p:sp>
      <p:sp>
        <p:nvSpPr>
          <p:cNvPr id="7" name="Text 4"/>
          <p:cNvSpPr txBox="1"/>
          <p:nvPr/>
        </p:nvSpPr>
        <p:spPr>
          <a:xfrm>
            <a:off x="457200" y="896112"/>
            <a:ext cx="3886200" cy="274320"/>
          </a:xfrm>
          <a:prstGeom prst="rect">
            <a:avLst/>
          </a:prstGeom>
          <a:noFill/>
          <a:ln/>
        </p:spPr>
        <p:txBody>
          <a:bodyPr wrap="square" lIns="0" tIns="0" rIns="0" bIns="0" rtlCol="0" anchor="ctr"/>
          <a:lstStyle/>
          <a:p>
            <a:pPr indent="0" marL="0">
              <a:buNone/>
            </a:pPr>
            <a:r>
              <a:rPr lang="en-US" sz="1200" b="1" dirty="0">
                <a:solidFill>
                  <a:srgbClr val="1651B0"/>
                </a:solidFill>
                <a:latin typeface="Calibri" pitchFamily="34" charset="0"/>
                <a:ea typeface="Calibri" pitchFamily="34" charset="-122"/>
                <a:cs typeface="Calibri" pitchFamily="34" charset="-120"/>
              </a:rPr>
              <a:t>Outputs</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3886200" cy="914400"/>
        </p:xfrm>
        <a:graphic>
          <a:graphicData uri="http://schemas.openxmlformats.org/drawingml/2006/table">
            <a:tbl>
              <a:tblPr/>
              <a:tblGrid>
                <a:gridCol w="1399032"/>
                <a:gridCol w="2487168"/>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Key</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What it holds</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r>
              <a:tr h="0">
                <a:tc>
                  <a:txBody>
                    <a:bodyPr/>
                    <a:lstStyle/>
                    <a:p>
                      <a:pPr indent="0" marL="0">
                        <a:buNone/>
                      </a:pPr>
                      <a:r>
                        <a:rPr lang="en-US" sz="950" b="1" dirty="0">
                          <a:solidFill>
                            <a:srgbClr val="1F2329"/>
                          </a:solidFill>
                          <a:latin typeface="Calibri" pitchFamily="34" charset="0"/>
                          <a:ea typeface="Calibri" pitchFamily="34" charset="-122"/>
                          <a:cs typeface="Calibri" pitchFamily="34" charset="-120"/>
                        </a:rPr>
                        <a:t>&lt;Output curve name&gt;</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950" dirty="0">
                          <a:solidFill>
                            <a:srgbClr val="1F2329"/>
                          </a:solidFill>
                          <a:latin typeface="Calibri" pitchFamily="34" charset="0"/>
                          <a:ea typeface="Calibri" pitchFamily="34" charset="-122"/>
                          <a:cs typeface="Calibri" pitchFamily="34" charset="-120"/>
                        </a:rPr>
                        <a:t>The baseline wire (camber, fore rocker, aft rocker; or one spline).</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950" b="1" dirty="0">
                          <a:solidFill>
                            <a:srgbClr val="1F2329"/>
                          </a:solidFill>
                          <a:latin typeface="Calibri" pitchFamily="34" charset="0"/>
                          <a:ea typeface="Calibri" pitchFamily="34" charset="-122"/>
                          <a:cs typeface="Calibri" pitchFamily="34" charset="-120"/>
                        </a:rPr>
                        <a:t>Baseline (Weighted)</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329"/>
                          </a:solidFill>
                          <a:latin typeface="Calibri" pitchFamily="34" charset="0"/>
                          <a:ea typeface="Calibri" pitchFamily="34" charset="-122"/>
                          <a:cs typeface="Calibri" pitchFamily="34" charset="-120"/>
                        </a:rPr>
                        <a:t>Optional second wire.</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bl>
          </a:graphicData>
        </a:graphic>
      </p:graphicFrame>
      <p:sp>
        <p:nvSpPr>
          <p:cNvPr id="9" name="Text 5"/>
          <p:cNvSpPr txBox="1"/>
          <p:nvPr/>
        </p:nvSpPr>
        <p:spPr>
          <a:xfrm>
            <a:off x="4617720" y="896112"/>
            <a:ext cx="4069080" cy="274320"/>
          </a:xfrm>
          <a:prstGeom prst="rect">
            <a:avLst/>
          </a:prstGeom>
          <a:noFill/>
          <a:ln/>
        </p:spPr>
        <p:txBody>
          <a:bodyPr wrap="square" lIns="0" tIns="0" rIns="0" bIns="0" rtlCol="0" anchor="ctr"/>
          <a:lstStyle/>
          <a:p>
            <a:pPr indent="0" marL="0">
              <a:buNone/>
            </a:pPr>
            <a:r>
              <a:rPr lang="en-US" sz="1200" b="1" dirty="0">
                <a:solidFill>
                  <a:srgbClr val="1651B0"/>
                </a:solidFill>
                <a:latin typeface="Calibri" pitchFamily="34" charset="0"/>
                <a:ea typeface="Calibri" pitchFamily="34" charset="-122"/>
                <a:cs typeface="Calibri" pitchFamily="34" charset="-120"/>
              </a:rPr>
              <a:t>Messages</a:t>
            </a:r>
            <a:endParaRPr lang="en-US" sz="12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4617720" y="1188720"/>
          <a:ext cx="4069080" cy="914400"/>
        </p:xfrm>
        <a:graphic>
          <a:graphicData uri="http://schemas.openxmlformats.org/drawingml/2006/table">
            <a:tbl>
              <a:tblPr/>
              <a:tblGrid>
                <a:gridCol w="813816"/>
                <a:gridCol w="3255264"/>
              </a:tblGrid>
              <a:tr h="0">
                <a:tc>
                  <a:txBody>
                    <a:bodyPr/>
                    <a:lstStyle/>
                    <a:p>
                      <a:pPr indent="0" marL="0">
                        <a:buNone/>
                      </a:pP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Message / what to do</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r>
              <a:tr h="0">
                <a:tc>
                  <a:txBody>
                    <a:bodyPr/>
                    <a:lstStyle/>
                    <a:p>
                      <a:pPr indent="0" marL="0">
                        <a:buNone/>
                      </a:pPr>
                      <a:r>
                        <a:rPr lang="en-US" sz="950" b="1" dirty="0">
                          <a:solidFill>
                            <a:srgbClr val="1BAF7A"/>
                          </a:solidFill>
                          <a:latin typeface="Calibri" pitchFamily="34" charset="0"/>
                          <a:ea typeface="Calibri" pitchFamily="34" charset="-122"/>
                          <a:cs typeface="Calibri" pitchFamily="34" charset="-120"/>
                        </a:rPr>
                        <a:t>Info</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950" dirty="0">
                          <a:solidFill>
                            <a:srgbClr val="1F2329"/>
                          </a:solidFill>
                          <a:latin typeface="Calibri" pitchFamily="34" charset="0"/>
                          <a:ea typeface="Calibri" pitchFamily="34" charset="-122"/>
                          <a:cs typeface="Calibri" pitchFamily="34" charset="-120"/>
                        </a:rPr>
                        <a:t>minimum-point distance clamped</a:t>
                      </a:r>
                      <a:endParaRPr lang="en-US" sz="950" dirty="0">
                        <a:latin typeface="Calibri" charset="0"/>
                        <a:ea typeface="Calibri" charset="0"/>
                        <a:cs typeface="Calibri" charset="0"/>
                      </a:endParaRPr>
                    </a:p>
                    <a:p>
                      <a:pPr indent="0" marL="0">
                        <a:buNone/>
                      </a:pPr>
                      <a:r>
                        <a:rPr lang="en-US" sz="950" dirty="0">
                          <a:solidFill>
                            <a:srgbClr val="1F2329"/>
                          </a:solidFill>
                          <a:latin typeface="Calibri" pitchFamily="34" charset="0"/>
                          <a:ea typeface="Calibri" pitchFamily="34" charset="-122"/>
                          <a:cs typeface="Calibri" pitchFamily="34" charset="-120"/>
                        </a:rPr>
                        <a:t>The requested rocker low point cannot be reached; the nearest reachable is used.</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950" b="1" dirty="0">
                          <a:solidFill>
                            <a:srgbClr val="C8453F"/>
                          </a:solidFill>
                          <a:latin typeface="Calibri" pitchFamily="34" charset="0"/>
                          <a:ea typeface="Calibri" pitchFamily="34" charset="-122"/>
                          <a:cs typeface="Calibri" pitchFamily="34" charset="-120"/>
                        </a:rPr>
                        <a:t>Error</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329"/>
                          </a:solidFill>
                          <a:latin typeface="Calibri" pitchFamily="34" charset="0"/>
                          <a:ea typeface="Calibri" pitchFamily="34" charset="-122"/>
                          <a:cs typeface="Calibri" pitchFamily="34" charset="-120"/>
                        </a:rPr>
                        <a:t>mount not between FCP and ACP</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Tips and limits</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Generate baseline  ·  xSection</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2026-09-25</a:t>
            </a:r>
            <a:endParaRPr lang="en-US" sz="900" dirty="0"/>
          </a:p>
        </p:txBody>
      </p:sp>
      <p:sp>
        <p:nvSpPr>
          <p:cNvPr id="7" name="Shape 4"/>
          <p:cNvSpPr/>
          <p:nvPr/>
        </p:nvSpPr>
        <p:spPr>
          <a:xfrm>
            <a:off x="457200" y="960120"/>
            <a:ext cx="274320" cy="274320"/>
          </a:xfrm>
          <a:prstGeom prst="ellipse">
            <a:avLst/>
          </a:prstGeom>
          <a:solidFill>
            <a:srgbClr val="1BAF7A"/>
          </a:solidFill>
          <a:ln w="12700">
            <a:solidFill>
              <a:srgbClr val="1BAF7A"/>
            </a:solidFill>
            <a:prstDash val="solid"/>
          </a:ln>
        </p:spPr>
      </p:sp>
      <p:sp>
        <p:nvSpPr>
          <p:cNvPr id="8" name="Text 5"/>
          <p:cNvSpPr txBox="1"/>
          <p:nvPr/>
        </p:nvSpPr>
        <p:spPr>
          <a:xfrm>
            <a:off x="457200" y="9601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9" name="Text 6"/>
          <p:cNvSpPr txBox="1"/>
          <p:nvPr/>
        </p:nvSpPr>
        <p:spPr>
          <a:xfrm>
            <a:off x="841248" y="914400"/>
            <a:ext cx="7845552" cy="978408"/>
          </a:xfrm>
          <a:prstGeom prst="rect">
            <a:avLst/>
          </a:prstGeom>
          <a:noFill/>
          <a:ln/>
        </p:spPr>
        <p:txBody>
          <a:bodyPr wrap="square" lIns="0" tIns="0" rIns="0" bIns="0" rtlCol="0" anchor="t"/>
          <a:lstStyle/>
          <a:p>
            <a:pPr indent="0" marL="0">
              <a:buNone/>
            </a:pPr>
            <a:r>
              <a:rPr lang="en-US" sz="1100" b="1" dirty="0">
                <a:solidFill>
                  <a:srgbClr val="1F2329"/>
                </a:solidFill>
                <a:latin typeface="Calibri" pitchFamily="34" charset="0"/>
                <a:ea typeface="Calibri" pitchFamily="34" charset="-122"/>
                <a:cs typeface="Calibri" pitchFamily="34" charset="-120"/>
              </a:rPr>
              <a:t>Two camber heights</a:t>
            </a:r>
            <a:endParaRPr lang="en-US" sz="1100" dirty="0"/>
          </a:p>
          <a:p>
            <a:pPr indent="0" marL="0">
              <a:buNone/>
            </a:pPr>
            <a:r>
              <a:rPr lang="en-US" sz="1100" dirty="0">
                <a:solidFill>
                  <a:srgbClr val="52514E"/>
                </a:solidFill>
                <a:latin typeface="Calibri" pitchFamily="34" charset="0"/>
                <a:ea typeface="Calibri" pitchFamily="34" charset="-122"/>
                <a:cs typeface="Calibri" pitchFamily="34" charset="-120"/>
              </a:rPr>
              <a:t>Generate baseline sets it at the mount; Analyze baseline reports the largest perpendicular distance -- they differ with an off-centre mount.</a:t>
            </a:r>
            <a:endParaRPr lang="en-US" sz="1100" dirty="0"/>
          </a:p>
        </p:txBody>
      </p:sp>
      <p:sp>
        <p:nvSpPr>
          <p:cNvPr id="10" name="Shape 7"/>
          <p:cNvSpPr/>
          <p:nvPr/>
        </p:nvSpPr>
        <p:spPr>
          <a:xfrm>
            <a:off x="457200" y="2011680"/>
            <a:ext cx="274320" cy="274320"/>
          </a:xfrm>
          <a:prstGeom prst="ellipse">
            <a:avLst/>
          </a:prstGeom>
          <a:solidFill>
            <a:srgbClr val="C9820A"/>
          </a:solidFill>
          <a:ln w="12700">
            <a:solidFill>
              <a:srgbClr val="C9820A"/>
            </a:solidFill>
            <a:prstDash val="solid"/>
          </a:ln>
        </p:spPr>
      </p:sp>
      <p:sp>
        <p:nvSpPr>
          <p:cNvPr id="11" name="Text 8"/>
          <p:cNvSpPr txBox="1"/>
          <p:nvPr/>
        </p:nvSpPr>
        <p:spPr>
          <a:xfrm>
            <a:off x="457200" y="201168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2" name="Text 9"/>
          <p:cNvSpPr txBox="1"/>
          <p:nvPr/>
        </p:nvSpPr>
        <p:spPr>
          <a:xfrm>
            <a:off x="841248" y="1965960"/>
            <a:ext cx="7845552" cy="978408"/>
          </a:xfrm>
          <a:prstGeom prst="rect">
            <a:avLst/>
          </a:prstGeom>
          <a:noFill/>
          <a:ln/>
        </p:spPr>
        <p:txBody>
          <a:bodyPr wrap="square" lIns="0" tIns="0" rIns="0" bIns="0" rtlCol="0" anchor="t"/>
          <a:lstStyle/>
          <a:p>
            <a:pPr indent="0" marL="0">
              <a:buNone/>
            </a:pPr>
            <a:r>
              <a:rPr lang="en-US" sz="1100" b="1" dirty="0">
                <a:solidFill>
                  <a:srgbClr val="1F2329"/>
                </a:solidFill>
                <a:latin typeface="Calibri" pitchFamily="34" charset="0"/>
                <a:ea typeface="Calibri" pitchFamily="34" charset="-122"/>
                <a:cs typeface="Calibri" pitchFamily="34" charset="-120"/>
              </a:rPr>
              <a:t>No convergence notice</a:t>
            </a:r>
            <a:endParaRPr lang="en-US" sz="1100" dirty="0"/>
          </a:p>
          <a:p>
            <a:pPr indent="0" marL="0">
              <a:buNone/>
            </a:pPr>
            <a:r>
              <a:rPr lang="en-US" sz="1100" dirty="0">
                <a:solidFill>
                  <a:srgbClr val="52514E"/>
                </a:solidFill>
                <a:latin typeface="Calibri" pitchFamily="34" charset="0"/>
                <a:ea typeface="Calibri" pitchFamily="34" charset="-122"/>
                <a:cs typeface="Calibri" pitchFamily="34" charset="-120"/>
              </a:rPr>
              <a:t>If 20 correction passes do not reach 0.001 mm, nothing is reported.</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Where it lives</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Generate baseline  ·  xSection</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2026-09-25</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2011680"/>
                <a:gridCol w="6217920"/>
              </a:tblGrid>
              <a:tr h="0">
                <a:tc>
                  <a:txBody>
                    <a:bodyPr/>
                    <a:lstStyle/>
                    <a:p>
                      <a:pPr indent="0" marL="0">
                        <a:buNone/>
                      </a:pP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r>
              <a:tr h="0">
                <a:tc>
                  <a:txBody>
                    <a:bodyPr/>
                    <a:lstStyle/>
                    <a:p>
                      <a:pPr indent="0" marL="0">
                        <a:buNone/>
                      </a:pPr>
                      <a:r>
                        <a:rPr lang="en-US" sz="1100" b="1" dirty="0">
                          <a:solidFill>
                            <a:srgbClr val="1F2329"/>
                          </a:solidFill>
                          <a:latin typeface="Calibri" pitchFamily="34" charset="0"/>
                          <a:ea typeface="Calibri" pitchFamily="34" charset="-122"/>
                          <a:cs typeface="Calibri" pitchFamily="34" charset="-120"/>
                        </a:rPr>
                        <a:t>Document</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xSection (f8deedeb1fbd819a8fa20113), 'Stiffness Tools'</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100" b="1" dirty="0">
                          <a:solidFill>
                            <a:srgbClr val="1F2329"/>
                          </a:solidFill>
                          <a:latin typeface="Calibri" pitchFamily="34" charset="0"/>
                          <a:ea typeface="Calibri" pitchFamily="34" charset="-122"/>
                          <a:cs typeface="Calibri" pitchFamily="34" charset="-120"/>
                        </a:rPr>
                        <a:t>Tab</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generateBaseline (+ beam/generateBaselineSolver.fs, baselineCore.fs)</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329"/>
                          </a:solidFill>
                          <a:latin typeface="Calibri" pitchFamily="34" charset="0"/>
                          <a:ea typeface="Calibri" pitchFamily="34" charset="-122"/>
                          <a:cs typeface="Calibri" pitchFamily="34" charset="-120"/>
                        </a:rPr>
                        <a:t>Tests</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100" b="1" dirty="0">
                          <a:solidFill>
                            <a:srgbClr val="1F2329"/>
                          </a:solidFill>
                          <a:latin typeface="Calibri" pitchFamily="34" charset="0"/>
                          <a:ea typeface="Calibri" pitchFamily="34" charset="-122"/>
                          <a:cs typeface="Calibri" pitchFamily="34" charset="-120"/>
                        </a:rPr>
                        <a:t>Examples</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Test studio: Generate baseline 1</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329"/>
                          </a:solidFill>
                          <a:latin typeface="Calibri" pitchFamily="34" charset="0"/>
                          <a:ea typeface="Calibri" pitchFamily="34" charset="-122"/>
                          <a:cs typeface="Calibri" pitchFamily="34" charset="-120"/>
                        </a:rPr>
                        <a:t>Explainer</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docs/explainers/xsection/xsection_explained.md, section 2.5</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100" b="1" dirty="0">
                          <a:solidFill>
                            <a:srgbClr val="1F2329"/>
                          </a:solidFill>
                          <a:latin typeface="Calibri" pitchFamily="34" charset="0"/>
                          <a:ea typeface="Calibri" pitchFamily="34" charset="-122"/>
                          <a:cs typeface="Calibri" pitchFamily="34" charset="-120"/>
                        </a:rPr>
                        <a:t>Related</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EI and Cross Section, Estimate Stiffness, Estimate Deflection, Generate / Analyze baseline, Update profile</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Generate baseline</dc:title>
  <dc:subject>PptxGenJS Presentation</dc:subject>
  <dc:creator>FeatureScript docs</dc:creator>
  <cp:lastModifiedBy>FeatureScript docs</cp:lastModifiedBy>
  <cp:revision>1</cp:revision>
  <dcterms:created xsi:type="dcterms:W3CDTF">2026-09-26T04:55:09Z</dcterms:created>
  <dcterms:modified xsi:type="dcterms:W3CDTF">2026-09-26T04:55:09Z</dcterms:modified>
</cp:coreProperties>
</file>