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262B"/>
        </a:solidFill>
      </p:bgPr>
    </p:bg>
    <p:spTree>
      <p:nvGrpSpPr>
        <p:cNvPr id="1" name=""/>
        <p:cNvGrpSpPr/>
        <p:nvPr/>
      </p:nvGrpSpPr>
      <p:grpSpPr>
        <a:xfrm>
          <a:off x="0" y="0"/>
          <a:ext cx="0" cy="0"/>
          <a:chOff x="0" y="0"/>
          <a:chExt cx="0" cy="0"/>
        </a:xfrm>
      </p:grpSpPr>
      <p:sp>
        <p:nvSpPr>
          <p:cNvPr id="2" name="Shape 0"/>
          <p:cNvSpPr/>
          <p:nvPr/>
        </p:nvSpPr>
        <p:spPr>
          <a:xfrm>
            <a:off x="457200" y="1234440"/>
            <a:ext cx="1554480" cy="1554480"/>
          </a:xfrm>
          <a:prstGeom prst="roundRect">
            <a:avLst>
              <a:gd name="adj" fmla="val 10588"/>
            </a:avLst>
          </a:prstGeom>
          <a:solidFill>
            <a:srgbClr val="FFFFFF"/>
          </a:solidFill>
          <a:ln w="12700">
            <a:solidFill>
              <a:srgbClr val="FFFFFF"/>
            </a:solidFill>
            <a:prstDash val="solid"/>
          </a:ln>
        </p:spPr>
      </p:sp>
      <p:pic>
        <p:nvPicPr>
          <p:cNvPr id="3" name="Image 0" descr="preencoded.png">    </p:cNvPr>
          <p:cNvPicPr>
            <a:picLocks noChangeAspect="1"/>
          </p:cNvPicPr>
          <p:nvPr/>
        </p:nvPicPr>
        <p:blipFill>
          <a:blip r:embed="rId1"/>
          <a:stretch>
            <a:fillRect/>
          </a:stretch>
        </p:blipFill>
        <p:spPr>
          <a:xfrm>
            <a:off x="685800" y="1463040"/>
            <a:ext cx="1097280" cy="1097280"/>
          </a:xfrm>
          <a:prstGeom prst="rect">
            <a:avLst/>
          </a:prstGeom>
        </p:spPr>
      </p:pic>
      <p:sp>
        <p:nvSpPr>
          <p:cNvPr id="4" name="Text 1"/>
          <p:cNvSpPr txBox="1"/>
          <p:nvPr/>
        </p:nvSpPr>
        <p:spPr>
          <a:xfrm>
            <a:off x="2377440" y="1188720"/>
            <a:ext cx="6309360" cy="868680"/>
          </a:xfrm>
          <a:prstGeom prst="rect">
            <a:avLst/>
          </a:prstGeom>
          <a:noFill/>
          <a:ln/>
        </p:spPr>
        <p:txBody>
          <a:bodyPr wrap="square" lIns="0" tIns="0" rIns="0" bIns="0" rtlCol="0" anchor="b"/>
          <a:lstStyle/>
          <a:p>
            <a:pPr indent="0" marL="0">
              <a:buNone/>
            </a:pPr>
            <a:r>
              <a:rPr lang="en-US" sz="4400" b="1" dirty="0">
                <a:solidFill>
                  <a:srgbClr val="FFFFFF"/>
                </a:solidFill>
                <a:latin typeface="Calibri" pitchFamily="34" charset="0"/>
                <a:ea typeface="Calibri" pitchFamily="34" charset="-122"/>
                <a:cs typeface="Calibri" pitchFamily="34" charset="-120"/>
              </a:rPr>
              <a:t>Evaluate profiles</a:t>
            </a:r>
            <a:endParaRPr lang="en-US" sz="4400" dirty="0"/>
          </a:p>
        </p:txBody>
      </p:sp>
      <p:sp>
        <p:nvSpPr>
          <p:cNvPr id="5" name="Text 2"/>
          <p:cNvSpPr txBox="1"/>
          <p:nvPr/>
        </p:nvSpPr>
        <p:spPr>
          <a:xfrm>
            <a:off x="2377440" y="2103120"/>
            <a:ext cx="6309360" cy="822960"/>
          </a:xfrm>
          <a:prstGeom prst="rect">
            <a:avLst/>
          </a:prstGeom>
          <a:noFill/>
          <a:ln/>
        </p:spPr>
        <p:txBody>
          <a:bodyPr wrap="square" lIns="0" tIns="0" rIns="0" bIns="0" rtlCol="0" anchor="t"/>
          <a:lstStyle/>
          <a:p>
            <a:pPr indent="0" marL="0">
              <a:buNone/>
            </a:pPr>
            <a:r>
              <a:rPr lang="en-US" sz="1600" dirty="0">
                <a:solidFill>
                  <a:srgbClr val="C9CED6"/>
                </a:solidFill>
                <a:latin typeface="Calibri" pitchFamily="34" charset="0"/>
                <a:ea typeface="Calibri" pitchFamily="34" charset="-122"/>
                <a:cs typeface="Calibri" pitchFamily="34" charset="-120"/>
              </a:rPr>
              <a:t>Project a chain onto a plane and cut it where it folds back -- or outline a part and split its outline into top, bottom and middle profiles.</a:t>
            </a:r>
            <a:endParaRPr lang="en-US" sz="1600" dirty="0"/>
          </a:p>
        </p:txBody>
      </p:sp>
      <p:sp>
        <p:nvSpPr>
          <p:cNvPr id="6" name="Text 3"/>
          <p:cNvSpPr txBox="1"/>
          <p:nvPr/>
        </p:nvSpPr>
        <p:spPr>
          <a:xfrm>
            <a:off x="457200" y="4320540"/>
            <a:ext cx="5486400" cy="274320"/>
          </a:xfrm>
          <a:prstGeom prst="rect">
            <a:avLst/>
          </a:prstGeom>
          <a:noFill/>
          <a:ln/>
        </p:spPr>
        <p:txBody>
          <a:bodyPr wrap="square" lIns="0" tIns="0" rIns="0" bIns="0" rtlCol="0" anchor="ctr"/>
          <a:lstStyle/>
          <a:p>
            <a:pPr indent="0" marL="0">
              <a:buNone/>
            </a:pPr>
            <a:r>
              <a:rPr lang="en-US" sz="1100" dirty="0">
                <a:solidFill>
                  <a:srgbClr val="9AA3AE"/>
                </a:solidFill>
                <a:latin typeface="Calibri" pitchFamily="34" charset="0"/>
                <a:ea typeface="Calibri" pitchFamily="34" charset="-122"/>
                <a:cs typeface="Calibri" pitchFamily="34" charset="-120"/>
              </a:rPr>
              <a:t>Curve_tools  ·  Onshape custom feature</a:t>
            </a:r>
            <a:endParaRPr lang="en-US" sz="1100" dirty="0"/>
          </a:p>
        </p:txBody>
      </p:sp>
      <p:sp>
        <p:nvSpPr>
          <p:cNvPr id="7" name="Text 4"/>
          <p:cNvSpPr txBox="1"/>
          <p:nvPr/>
        </p:nvSpPr>
        <p:spPr>
          <a:xfrm>
            <a:off x="5943600" y="4320540"/>
            <a:ext cx="2743200" cy="274320"/>
          </a:xfrm>
          <a:prstGeom prst="rect">
            <a:avLst/>
          </a:prstGeom>
          <a:noFill/>
          <a:ln/>
        </p:spPr>
        <p:txBody>
          <a:bodyPr wrap="square" lIns="0" tIns="0" rIns="0" bIns="0" rtlCol="0" anchor="ctr"/>
          <a:lstStyle/>
          <a:p>
            <a:pPr algn="r" indent="0" marL="0">
              <a:buNone/>
            </a:pPr>
            <a:r>
              <a:rPr lang="en-US" sz="1100" dirty="0">
                <a:solidFill>
                  <a:srgbClr val="9AA3AE"/>
                </a:solidFill>
                <a:latin typeface="Calibri" pitchFamily="34" charset="0"/>
                <a:ea typeface="Calibri" pitchFamily="34" charset="-122"/>
                <a:cs typeface="Calibri" pitchFamily="34" charset="-120"/>
              </a:rPr>
              <a:t>Draft 2026-09-25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What it does</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Evaluate profiles  ·  Curve_tools</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2026-09-25</a:t>
            </a:r>
            <a:endParaRPr lang="en-US" sz="900" dirty="0"/>
          </a:p>
        </p:txBody>
      </p:sp>
      <p:sp>
        <p:nvSpPr>
          <p:cNvPr id="7" name="Text 4"/>
          <p:cNvSpPr txBox="1"/>
          <p:nvPr/>
        </p:nvSpPr>
        <p:spPr>
          <a:xfrm>
            <a:off x="457200" y="1005840"/>
            <a:ext cx="3749040" cy="1371600"/>
          </a:xfrm>
          <a:prstGeom prst="rect">
            <a:avLst/>
          </a:prstGeom>
          <a:noFill/>
          <a:ln/>
        </p:spPr>
        <p:txBody>
          <a:bodyPr wrap="square" lIns="0" tIns="0" rIns="0" bIns="0" rtlCol="0" anchor="t"/>
          <a:lstStyle/>
          <a:p>
            <a:pPr indent="0" marL="0">
              <a:buNone/>
            </a:pPr>
            <a:r>
              <a:rPr lang="en-US" sz="1400" dirty="0">
                <a:solidFill>
                  <a:srgbClr val="1F2329"/>
                </a:solidFill>
                <a:latin typeface="Calibri" pitchFamily="34" charset="0"/>
                <a:ea typeface="Calibri" pitchFamily="34" charset="-122"/>
                <a:cs typeface="Calibri" pitchFamily="34" charset="-120"/>
              </a:rPr>
              <a:t>Side profiles of a core, a topsheet or a sidewall are needed as clean curves: for fills, for drawings, for measuring. Native Project and Outline give an undivided loop, with slivers, that can fold back at the tip. Evaluate profiles gives the profiles you actually want, named.</a:t>
            </a:r>
            <a:endParaRPr lang="en-US" sz="1400" dirty="0"/>
          </a:p>
        </p:txBody>
      </p:sp>
      <p:sp>
        <p:nvSpPr>
          <p:cNvPr id="8" name="Text 5"/>
          <p:cNvSpPr txBox="1"/>
          <p:nvPr/>
        </p:nvSpPr>
        <p:spPr>
          <a:xfrm>
            <a:off x="457200" y="2468880"/>
            <a:ext cx="3749040" cy="274320"/>
          </a:xfrm>
          <a:prstGeom prst="rect">
            <a:avLst/>
          </a:prstGeom>
          <a:noFill/>
          <a:ln/>
        </p:spPr>
        <p:txBody>
          <a:bodyPr wrap="square" lIns="0" tIns="0" rIns="0" bIns="0" rtlCol="0" anchor="ctr"/>
          <a:lstStyle/>
          <a:p>
            <a:pPr indent="0" marL="0">
              <a:buNone/>
            </a:pPr>
            <a:r>
              <a:rPr lang="en-US" sz="1300" b="1" dirty="0">
                <a:solidFill>
                  <a:srgbClr val="1651B0"/>
                </a:solidFill>
                <a:latin typeface="Calibri" pitchFamily="34" charset="0"/>
                <a:ea typeface="Calibri" pitchFamily="34" charset="-122"/>
                <a:cs typeface="Calibri" pitchFamily="34" charset="-120"/>
              </a:rPr>
              <a:t>Use it when</a:t>
            </a:r>
            <a:endParaRPr lang="en-US" sz="1300" dirty="0"/>
          </a:p>
        </p:txBody>
      </p:sp>
      <p:sp>
        <p:nvSpPr>
          <p:cNvPr id="9" name="Text 6"/>
          <p:cNvSpPr txBox="1"/>
          <p:nvPr/>
        </p:nvSpPr>
        <p:spPr>
          <a:xfrm>
            <a:off x="457200" y="2761488"/>
            <a:ext cx="3749040" cy="173736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329"/>
                </a:solidFill>
                <a:latin typeface="Calibri" pitchFamily="34" charset="0"/>
                <a:ea typeface="Calibri" pitchFamily="34" charset="-122"/>
                <a:cs typeface="Calibri" pitchFamily="34" charset="-120"/>
              </a:rPr>
              <a:t>You need a part's top / bottom / middle side profile</a:t>
            </a:r>
            <a:endParaRPr lang="en-US" sz="1250" dirty="0"/>
          </a:p>
          <a:p>
            <a:pPr marL="177800" indent="-177800">
              <a:spcAft>
                <a:spcPts val="600"/>
              </a:spcAft>
              <a:buSzPct val="100000"/>
              <a:buChar char="•"/>
            </a:pPr>
            <a:r>
              <a:rPr lang="en-US" sz="1250" dirty="0">
                <a:solidFill>
                  <a:srgbClr val="1F2329"/>
                </a:solidFill>
                <a:latin typeface="Calibri" pitchFamily="34" charset="0"/>
                <a:ea typeface="Calibri" pitchFamily="34" charset="-122"/>
                <a:cs typeface="Calibri" pitchFamily="34" charset="-120"/>
              </a:rPr>
              <a:t>A projected chain folds back at a tip</a:t>
            </a:r>
            <a:endParaRPr lang="en-US" sz="1250" dirty="0"/>
          </a:p>
          <a:p>
            <a:pPr marL="177800" indent="-177800">
              <a:spcAft>
                <a:spcPts val="600"/>
              </a:spcAft>
              <a:buSzPct val="100000"/>
              <a:buChar char="•"/>
            </a:pPr>
            <a:r>
              <a:rPr lang="en-US" sz="1250" dirty="0">
                <a:solidFill>
                  <a:srgbClr val="1F2329"/>
                </a:solidFill>
                <a:latin typeface="Calibri" pitchFamily="34" charset="0"/>
                <a:ea typeface="Calibri" pitchFamily="34" charset="-122"/>
                <a:cs typeface="Calibri" pitchFamily="34" charset="-120"/>
              </a:rPr>
              <a:t>An outline has micro-edges that break a fill</a:t>
            </a:r>
            <a:endParaRPr lang="en-US" sz="1250" dirty="0"/>
          </a:p>
        </p:txBody>
      </p:sp>
      <p:pic>
        <p:nvPicPr>
          <p:cNvPr id="10" name="Image 1" descr="C:\Users\jed.yeiser\documents\featurescripts\docs\decks\evaluate_profiles\shots\p1.png">    </p:cNvPr>
          <p:cNvPicPr>
            <a:picLocks noChangeAspect="1"/>
          </p:cNvPicPr>
          <p:nvPr/>
        </p:nvPicPr>
        <p:blipFill>
          <a:blip r:embed="rId2"/>
          <a:stretch>
            <a:fillRect/>
          </a:stretch>
        </p:blipFill>
        <p:spPr>
          <a:xfrm>
            <a:off x="4480560" y="2173625"/>
            <a:ext cx="4206240" cy="819110"/>
          </a:xfrm>
          <a:prstGeom prst="rect">
            <a:avLst/>
          </a:prstGeom>
        </p:spPr>
      </p:pic>
      <p:sp>
        <p:nvSpPr>
          <p:cNvPr id="11" name="Text 7"/>
          <p:cNvSpPr txBox="1"/>
          <p:nvPr/>
        </p:nvSpPr>
        <p:spPr>
          <a:xfrm>
            <a:off x="4480560" y="4224528"/>
            <a:ext cx="4206240" cy="365760"/>
          </a:xfrm>
          <a:prstGeom prst="rect">
            <a:avLst/>
          </a:prstGeom>
          <a:noFill/>
          <a:ln/>
        </p:spPr>
        <p:txBody>
          <a:bodyPr wrap="square" lIns="0" tIns="0" rIns="0" bIns="0" rtlCol="0" anchor="ctr"/>
          <a:lstStyle/>
          <a:p>
            <a:pPr indent="0" marL="0">
              <a:buNone/>
            </a:pPr>
            <a:r>
              <a:rPr lang="en-US" sz="1000" i="1" dirty="0">
                <a:solidFill>
                  <a:srgbClr val="52514E"/>
                </a:solidFill>
                <a:latin typeface="Calibri" pitchFamily="34" charset="0"/>
                <a:ea typeface="Calibri" pitchFamily="34" charset="-122"/>
                <a:cs typeface="Calibri" pitchFamily="34" charset="-120"/>
              </a:rPr>
              <a:t>P1: a crowned sheet outlined: top, middle and bottom profiles.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Two jobs</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Evaluate profiles  ·  Curve_tools</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2026-09-25</a:t>
            </a:r>
            <a:endParaRPr lang="en-US" sz="900" dirty="0"/>
          </a:p>
        </p:txBody>
      </p:sp>
      <p:pic>
        <p:nvPicPr>
          <p:cNvPr id="7" name="Image 1" descr="C:\Users\jed.yeiser\documents\featurescripts\docs\explainers\curve_tools\img\fig05_evaluate_profiles.png">    </p:cNvPr>
          <p:cNvPicPr>
            <a:picLocks noChangeAspect="1"/>
          </p:cNvPicPr>
          <p:nvPr/>
        </p:nvPicPr>
        <p:blipFill>
          <a:blip r:embed="rId2"/>
          <a:stretch>
            <a:fillRect/>
          </a:stretch>
        </p:blipFill>
        <p:spPr>
          <a:xfrm>
            <a:off x="919000" y="914400"/>
            <a:ext cx="7306001" cy="2514600"/>
          </a:xfrm>
          <a:prstGeom prst="rect">
            <a:avLst/>
          </a:prstGeom>
        </p:spPr>
      </p:pic>
      <p:sp>
        <p:nvSpPr>
          <p:cNvPr id="8" name="Shape 4"/>
          <p:cNvSpPr/>
          <p:nvPr/>
        </p:nvSpPr>
        <p:spPr>
          <a:xfrm>
            <a:off x="457200" y="3566160"/>
            <a:ext cx="2590800" cy="914400"/>
          </a:xfrm>
          <a:prstGeom prst="roundRect">
            <a:avLst>
              <a:gd name="adj" fmla="val 6000"/>
            </a:avLst>
          </a:prstGeom>
          <a:solidFill>
            <a:srgbClr val="F3F5F8"/>
          </a:solidFill>
          <a:ln w="12700">
            <a:solidFill>
              <a:srgbClr val="F3F5F8"/>
            </a:solidFill>
            <a:prstDash val="solid"/>
          </a:ln>
        </p:spPr>
      </p:sp>
      <p:sp>
        <p:nvSpPr>
          <p:cNvPr id="9" name="Text 5"/>
          <p:cNvSpPr txBox="1"/>
          <p:nvPr/>
        </p:nvSpPr>
        <p:spPr>
          <a:xfrm>
            <a:off x="566928" y="3621024"/>
            <a:ext cx="2371344" cy="804672"/>
          </a:xfrm>
          <a:prstGeom prst="rect">
            <a:avLst/>
          </a:prstGeom>
          <a:noFill/>
          <a:ln/>
        </p:spPr>
        <p:txBody>
          <a:bodyPr wrap="square" lIns="0" tIns="0" rIns="0" bIns="0" rtlCol="0" anchor="t"/>
          <a:lstStyle/>
          <a:p>
            <a:pPr indent="0" marL="0">
              <a:buNone/>
            </a:pPr>
            <a:r>
              <a:rPr lang="en-US" sz="1100" b="1" dirty="0">
                <a:solidFill>
                  <a:srgbClr val="1651B0"/>
                </a:solidFill>
                <a:latin typeface="Calibri" pitchFamily="34" charset="0"/>
                <a:ea typeface="Calibri" pitchFamily="34" charset="-122"/>
                <a:cs typeface="Calibri" pitchFamily="34" charset="-120"/>
              </a:rPr>
              <a:t>Edges</a:t>
            </a:r>
            <a:endParaRPr lang="en-US" sz="1100" dirty="0"/>
          </a:p>
          <a:p>
            <a:pPr indent="0" marL="0">
              <a:buNone/>
            </a:pPr>
            <a:r>
              <a:rPr lang="en-US" sz="1100" dirty="0">
                <a:solidFill>
                  <a:srgbClr val="1F2329"/>
                </a:solidFill>
                <a:latin typeface="Calibri" pitchFamily="34" charset="0"/>
                <a:ea typeface="Calibri" pitchFamily="34" charset="-122"/>
                <a:cs typeface="Calibri" pitchFamily="34" charset="-120"/>
              </a:rPr>
              <a:t>Project, then cut where the chain stops advancing along the prevailing direction (400-sample scan, then bisection).</a:t>
            </a:r>
            <a:endParaRPr lang="en-US" sz="1100" dirty="0"/>
          </a:p>
        </p:txBody>
      </p:sp>
      <p:sp>
        <p:nvSpPr>
          <p:cNvPr id="10" name="Shape 6"/>
          <p:cNvSpPr/>
          <p:nvPr/>
        </p:nvSpPr>
        <p:spPr>
          <a:xfrm>
            <a:off x="3276600" y="3566160"/>
            <a:ext cx="2590800" cy="914400"/>
          </a:xfrm>
          <a:prstGeom prst="roundRect">
            <a:avLst>
              <a:gd name="adj" fmla="val 6000"/>
            </a:avLst>
          </a:prstGeom>
          <a:solidFill>
            <a:srgbClr val="F3F5F8"/>
          </a:solidFill>
          <a:ln w="12700">
            <a:solidFill>
              <a:srgbClr val="F3F5F8"/>
            </a:solidFill>
            <a:prstDash val="solid"/>
          </a:ln>
        </p:spPr>
      </p:sp>
      <p:sp>
        <p:nvSpPr>
          <p:cNvPr id="11" name="Text 7"/>
          <p:cNvSpPr txBox="1"/>
          <p:nvPr/>
        </p:nvSpPr>
        <p:spPr>
          <a:xfrm>
            <a:off x="3386328" y="3621024"/>
            <a:ext cx="2371344" cy="804672"/>
          </a:xfrm>
          <a:prstGeom prst="rect">
            <a:avLst/>
          </a:prstGeom>
          <a:noFill/>
          <a:ln/>
        </p:spPr>
        <p:txBody>
          <a:bodyPr wrap="square" lIns="0" tIns="0" rIns="0" bIns="0" rtlCol="0" anchor="t"/>
          <a:lstStyle/>
          <a:p>
            <a:pPr indent="0" marL="0">
              <a:buNone/>
            </a:pPr>
            <a:r>
              <a:rPr lang="en-US" sz="1100" b="1" dirty="0">
                <a:solidFill>
                  <a:srgbClr val="1651B0"/>
                </a:solidFill>
                <a:latin typeface="Calibri" pitchFamily="34" charset="0"/>
                <a:ea typeface="Calibri" pitchFamily="34" charset="-122"/>
                <a:cs typeface="Calibri" pitchFamily="34" charset="-120"/>
              </a:rPr>
              <a:t>Part</a:t>
            </a:r>
            <a:endParaRPr lang="en-US" sz="1100" dirty="0"/>
          </a:p>
          <a:p>
            <a:pPr indent="0" marL="0">
              <a:buNone/>
            </a:pPr>
            <a:r>
              <a:rPr lang="en-US" sz="1100" dirty="0">
                <a:solidFill>
                  <a:srgbClr val="1F2329"/>
                </a:solidFill>
                <a:latin typeface="Calibri" pitchFamily="34" charset="0"/>
                <a:ea typeface="Calibri" pitchFamily="34" charset="-122"/>
                <a:cs typeface="Calibri" pitchFamily="34" charset="-120"/>
              </a:rPr>
              <a:t>The two longest runs along the direction are top and bottom (top = higher); the middle is their average at matching stations.</a:t>
            </a:r>
            <a:endParaRPr lang="en-US" sz="1100" dirty="0"/>
          </a:p>
        </p:txBody>
      </p:sp>
      <p:sp>
        <p:nvSpPr>
          <p:cNvPr id="12" name="Shape 8"/>
          <p:cNvSpPr/>
          <p:nvPr/>
        </p:nvSpPr>
        <p:spPr>
          <a:xfrm>
            <a:off x="6096000" y="3566160"/>
            <a:ext cx="2590800" cy="914400"/>
          </a:xfrm>
          <a:prstGeom prst="roundRect">
            <a:avLst>
              <a:gd name="adj" fmla="val 6000"/>
            </a:avLst>
          </a:prstGeom>
          <a:solidFill>
            <a:srgbClr val="F3F5F8"/>
          </a:solidFill>
          <a:ln w="12700">
            <a:solidFill>
              <a:srgbClr val="F3F5F8"/>
            </a:solidFill>
            <a:prstDash val="solid"/>
          </a:ln>
        </p:spPr>
      </p:sp>
      <p:sp>
        <p:nvSpPr>
          <p:cNvPr id="13" name="Text 9"/>
          <p:cNvSpPr txBox="1"/>
          <p:nvPr/>
        </p:nvSpPr>
        <p:spPr>
          <a:xfrm>
            <a:off x="6205728" y="3621024"/>
            <a:ext cx="2371344" cy="804672"/>
          </a:xfrm>
          <a:prstGeom prst="rect">
            <a:avLst/>
          </a:prstGeom>
          <a:noFill/>
          <a:ln/>
        </p:spPr>
        <p:txBody>
          <a:bodyPr wrap="square" lIns="0" tIns="0" rIns="0" bIns="0" rtlCol="0" anchor="t"/>
          <a:lstStyle/>
          <a:p>
            <a:pPr indent="0" marL="0">
              <a:buNone/>
            </a:pPr>
            <a:r>
              <a:rPr lang="en-US" sz="1100" b="1" dirty="0">
                <a:solidFill>
                  <a:srgbClr val="1651B0"/>
                </a:solidFill>
                <a:latin typeface="Calibri" pitchFamily="34" charset="0"/>
                <a:ea typeface="Calibri" pitchFamily="34" charset="-122"/>
                <a:cs typeface="Calibri" pitchFamily="34" charset="-120"/>
              </a:rPr>
              <a:t>Micro-edges merged</a:t>
            </a:r>
            <a:endParaRPr lang="en-US" sz="1100" dirty="0"/>
          </a:p>
          <a:p>
            <a:pPr indent="0" marL="0">
              <a:buNone/>
            </a:pPr>
            <a:r>
              <a:rPr lang="en-US" sz="1100" dirty="0">
                <a:solidFill>
                  <a:srgbClr val="1F2329"/>
                </a:solidFill>
                <a:latin typeface="Calibri" pitchFamily="34" charset="0"/>
                <a:ea typeface="Calibri" pitchFamily="34" charset="-122"/>
                <a:cs typeface="Calibri" pitchFamily="34" charset="-120"/>
              </a:rPr>
              <a:t>Outline edges under 0.01 mm are merged away -- a 1.7 um edge once broke a fill.</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The dialog: Part  (1/2)</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Evaluate profiles  ·  Curve_tools</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2026-09-25</a:t>
            </a:r>
            <a:endParaRPr lang="en-US" sz="900" dirty="0"/>
          </a:p>
        </p:txBody>
      </p:sp>
      <p:pic>
        <p:nvPicPr>
          <p:cNvPr id="7" name="Image 1" descr="C:\Users\jed.yeiser\documents\featurescripts\docs\decks\evaluate_profiles\shots\dialog_part.png">    </p:cNvPr>
          <p:cNvPicPr>
            <a:picLocks noChangeAspect="1"/>
          </p:cNvPicPr>
          <p:nvPr/>
        </p:nvPicPr>
        <p:blipFill>
          <a:blip r:embed="rId2"/>
          <a:stretch>
            <a:fillRect/>
          </a:stretch>
        </p:blipFill>
        <p:spPr>
          <a:xfrm>
            <a:off x="777240" y="914400"/>
            <a:ext cx="2069306" cy="3611880"/>
          </a:xfrm>
          <a:prstGeom prst="rect">
            <a:avLst/>
          </a:prstGeom>
        </p:spPr>
      </p:pic>
      <p:sp>
        <p:nvSpPr>
          <p:cNvPr id="8" name="Shape 4"/>
          <p:cNvSpPr/>
          <p:nvPr/>
        </p:nvSpPr>
        <p:spPr>
          <a:xfrm>
            <a:off x="777240" y="914400"/>
            <a:ext cx="2069306" cy="3611880"/>
          </a:xfrm>
          <a:prstGeom prst="rect">
            <a:avLst/>
          </a:prstGeom>
          <a:ln w="9525">
            <a:solidFill>
              <a:srgbClr val="D9D6CF"/>
            </a:solidFill>
            <a:prstDash val="solid"/>
          </a:ln>
        </p:spPr>
      </p:sp>
      <p:sp>
        <p:nvSpPr>
          <p:cNvPr id="9" name="Shape 5"/>
          <p:cNvSpPr/>
          <p:nvPr/>
        </p:nvSpPr>
        <p:spPr>
          <a:xfrm>
            <a:off x="475488" y="1186272"/>
            <a:ext cx="237744" cy="237744"/>
          </a:xfrm>
          <a:prstGeom prst="ellipse">
            <a:avLst/>
          </a:prstGeom>
          <a:solidFill>
            <a:srgbClr val="1651B0"/>
          </a:solidFill>
          <a:ln w="12700">
            <a:solidFill>
              <a:srgbClr val="FFFFFF"/>
            </a:solidFill>
            <a:prstDash val="solid"/>
          </a:ln>
        </p:spPr>
      </p:sp>
      <p:sp>
        <p:nvSpPr>
          <p:cNvPr id="10" name="Text 6"/>
          <p:cNvSpPr txBox="1"/>
          <p:nvPr/>
        </p:nvSpPr>
        <p:spPr>
          <a:xfrm>
            <a:off x="475488" y="118627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Shape 7"/>
          <p:cNvSpPr/>
          <p:nvPr/>
        </p:nvSpPr>
        <p:spPr>
          <a:xfrm>
            <a:off x="475488" y="1440491"/>
            <a:ext cx="237744" cy="237744"/>
          </a:xfrm>
          <a:prstGeom prst="ellipse">
            <a:avLst/>
          </a:prstGeom>
          <a:solidFill>
            <a:srgbClr val="1651B0"/>
          </a:solidFill>
          <a:ln w="12700">
            <a:solidFill>
              <a:srgbClr val="FFFFFF"/>
            </a:solidFill>
            <a:prstDash val="solid"/>
          </a:ln>
        </p:spPr>
      </p:sp>
      <p:sp>
        <p:nvSpPr>
          <p:cNvPr id="12" name="Text 8"/>
          <p:cNvSpPr txBox="1"/>
          <p:nvPr/>
        </p:nvSpPr>
        <p:spPr>
          <a:xfrm>
            <a:off x="475488" y="1440491"/>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Shape 9"/>
          <p:cNvSpPr/>
          <p:nvPr/>
        </p:nvSpPr>
        <p:spPr>
          <a:xfrm>
            <a:off x="475488" y="1718855"/>
            <a:ext cx="237744" cy="237744"/>
          </a:xfrm>
          <a:prstGeom prst="ellipse">
            <a:avLst/>
          </a:prstGeom>
          <a:solidFill>
            <a:srgbClr val="1651B0"/>
          </a:solidFill>
          <a:ln w="12700">
            <a:solidFill>
              <a:srgbClr val="FFFFFF"/>
            </a:solidFill>
            <a:prstDash val="solid"/>
          </a:ln>
        </p:spPr>
      </p:sp>
      <p:sp>
        <p:nvSpPr>
          <p:cNvPr id="14" name="Text 10"/>
          <p:cNvSpPr txBox="1"/>
          <p:nvPr/>
        </p:nvSpPr>
        <p:spPr>
          <a:xfrm>
            <a:off x="475488" y="1718855"/>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5" name="Shape 11"/>
          <p:cNvSpPr/>
          <p:nvPr/>
        </p:nvSpPr>
        <p:spPr>
          <a:xfrm>
            <a:off x="475488" y="2206237"/>
            <a:ext cx="237744" cy="237744"/>
          </a:xfrm>
          <a:prstGeom prst="ellipse">
            <a:avLst/>
          </a:prstGeom>
          <a:solidFill>
            <a:srgbClr val="1651B0"/>
          </a:solidFill>
          <a:ln w="12700">
            <a:solidFill>
              <a:srgbClr val="FFFFFF"/>
            </a:solidFill>
            <a:prstDash val="solid"/>
          </a:ln>
        </p:spPr>
      </p:sp>
      <p:sp>
        <p:nvSpPr>
          <p:cNvPr id="16" name="Text 12"/>
          <p:cNvSpPr txBox="1"/>
          <p:nvPr/>
        </p:nvSpPr>
        <p:spPr>
          <a:xfrm>
            <a:off x="475488" y="2206237"/>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7" name="Shape 13"/>
          <p:cNvSpPr/>
          <p:nvPr/>
        </p:nvSpPr>
        <p:spPr>
          <a:xfrm>
            <a:off x="475488" y="2469871"/>
            <a:ext cx="237744" cy="237744"/>
          </a:xfrm>
          <a:prstGeom prst="ellipse">
            <a:avLst/>
          </a:prstGeom>
          <a:solidFill>
            <a:srgbClr val="1651B0"/>
          </a:solidFill>
          <a:ln w="12700">
            <a:solidFill>
              <a:srgbClr val="FFFFFF"/>
            </a:solidFill>
            <a:prstDash val="solid"/>
          </a:ln>
        </p:spPr>
      </p:sp>
      <p:sp>
        <p:nvSpPr>
          <p:cNvPr id="18" name="Text 14"/>
          <p:cNvSpPr txBox="1"/>
          <p:nvPr/>
        </p:nvSpPr>
        <p:spPr>
          <a:xfrm>
            <a:off x="475488" y="2469871"/>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9" name="Shape 15"/>
          <p:cNvSpPr/>
          <p:nvPr/>
        </p:nvSpPr>
        <p:spPr>
          <a:xfrm>
            <a:off x="475488" y="2719989"/>
            <a:ext cx="237744" cy="237744"/>
          </a:xfrm>
          <a:prstGeom prst="ellipse">
            <a:avLst/>
          </a:prstGeom>
          <a:solidFill>
            <a:srgbClr val="1651B0"/>
          </a:solidFill>
          <a:ln w="12700">
            <a:solidFill>
              <a:srgbClr val="FFFFFF"/>
            </a:solidFill>
            <a:prstDash val="solid"/>
          </a:ln>
        </p:spPr>
      </p:sp>
      <p:sp>
        <p:nvSpPr>
          <p:cNvPr id="20" name="Text 16"/>
          <p:cNvSpPr txBox="1"/>
          <p:nvPr/>
        </p:nvSpPr>
        <p:spPr>
          <a:xfrm>
            <a:off x="475488" y="2719989"/>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1" name="Shape 17"/>
          <p:cNvSpPr/>
          <p:nvPr/>
        </p:nvSpPr>
        <p:spPr>
          <a:xfrm>
            <a:off x="475488" y="3194793"/>
            <a:ext cx="237744" cy="237744"/>
          </a:xfrm>
          <a:prstGeom prst="ellipse">
            <a:avLst/>
          </a:prstGeom>
          <a:solidFill>
            <a:srgbClr val="1651B0"/>
          </a:solidFill>
          <a:ln w="12700">
            <a:solidFill>
              <a:srgbClr val="FFFFFF"/>
            </a:solidFill>
            <a:prstDash val="solid"/>
          </a:ln>
        </p:spPr>
      </p:sp>
      <p:sp>
        <p:nvSpPr>
          <p:cNvPr id="22" name="Text 18"/>
          <p:cNvSpPr txBox="1"/>
          <p:nvPr/>
        </p:nvSpPr>
        <p:spPr>
          <a:xfrm>
            <a:off x="475488" y="3194793"/>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23" name="Shape 19"/>
          <p:cNvSpPr/>
          <p:nvPr/>
        </p:nvSpPr>
        <p:spPr>
          <a:xfrm>
            <a:off x="475488" y="3502342"/>
            <a:ext cx="237744" cy="237744"/>
          </a:xfrm>
          <a:prstGeom prst="ellipse">
            <a:avLst/>
          </a:prstGeom>
          <a:solidFill>
            <a:srgbClr val="1651B0"/>
          </a:solidFill>
          <a:ln w="12700">
            <a:solidFill>
              <a:srgbClr val="FFFFFF"/>
            </a:solidFill>
            <a:prstDash val="solid"/>
          </a:ln>
        </p:spPr>
      </p:sp>
      <p:sp>
        <p:nvSpPr>
          <p:cNvPr id="24" name="Text 20"/>
          <p:cNvSpPr txBox="1"/>
          <p:nvPr/>
        </p:nvSpPr>
        <p:spPr>
          <a:xfrm>
            <a:off x="475488" y="350234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25" name="Shape 21"/>
          <p:cNvSpPr/>
          <p:nvPr/>
        </p:nvSpPr>
        <p:spPr>
          <a:xfrm>
            <a:off x="475488" y="3758032"/>
            <a:ext cx="237744" cy="237744"/>
          </a:xfrm>
          <a:prstGeom prst="ellipse">
            <a:avLst/>
          </a:prstGeom>
          <a:solidFill>
            <a:srgbClr val="1651B0"/>
          </a:solidFill>
          <a:ln w="12700">
            <a:solidFill>
              <a:srgbClr val="FFFFFF"/>
            </a:solidFill>
            <a:prstDash val="solid"/>
          </a:ln>
        </p:spPr>
      </p:sp>
      <p:sp>
        <p:nvSpPr>
          <p:cNvPr id="26" name="Text 22"/>
          <p:cNvSpPr txBox="1"/>
          <p:nvPr/>
        </p:nvSpPr>
        <p:spPr>
          <a:xfrm>
            <a:off x="475488" y="375803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27" name="Shape 23"/>
          <p:cNvSpPr/>
          <p:nvPr/>
        </p:nvSpPr>
        <p:spPr>
          <a:xfrm>
            <a:off x="475488" y="4015193"/>
            <a:ext cx="237744" cy="237744"/>
          </a:xfrm>
          <a:prstGeom prst="ellipse">
            <a:avLst/>
          </a:prstGeom>
          <a:solidFill>
            <a:srgbClr val="1651B0"/>
          </a:solidFill>
          <a:ln w="12700">
            <a:solidFill>
              <a:srgbClr val="FFFFFF"/>
            </a:solidFill>
            <a:prstDash val="solid"/>
          </a:ln>
        </p:spPr>
      </p:sp>
      <p:sp>
        <p:nvSpPr>
          <p:cNvPr id="28" name="Text 24"/>
          <p:cNvSpPr txBox="1"/>
          <p:nvPr/>
        </p:nvSpPr>
        <p:spPr>
          <a:xfrm>
            <a:off x="475488" y="4015193"/>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840480" y="914400"/>
          <a:ext cx="4846320" cy="914400"/>
        </p:xfrm>
        <a:graphic>
          <a:graphicData uri="http://schemas.openxmlformats.org/drawingml/2006/table">
            <a:tbl>
              <a:tblPr/>
              <a:tblGrid>
                <a:gridCol w="320040"/>
                <a:gridCol w="1453896"/>
                <a:gridCol w="3072384"/>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Parameter</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means</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Profile from</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EDGES: project a chain. PART: outline a solid or surface.</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Name</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Part outputs are named &lt;name&gt; top, &lt;name&gt; bottom, ...</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Part or surface to outline</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A solid or surface body, or a face of one.</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Return</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Top / Bottom / Middle / Periphery / All profiles / Full (profiles + connectors).</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Merge edges shorter than</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0.01 mm; 0 = off.</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The dialog: Part  (2/2)</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Evaluate profiles  ·  Curve_tools</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2026-09-25</a:t>
            </a:r>
            <a:endParaRPr lang="en-US" sz="900" dirty="0"/>
          </a:p>
        </p:txBody>
      </p:sp>
      <p:pic>
        <p:nvPicPr>
          <p:cNvPr id="7" name="Image 1" descr="C:\Users\jed.yeiser\documents\featurescripts\docs\decks\evaluate_profiles\shots\dialog_part.png">    </p:cNvPr>
          <p:cNvPicPr>
            <a:picLocks noChangeAspect="1"/>
          </p:cNvPicPr>
          <p:nvPr/>
        </p:nvPicPr>
        <p:blipFill>
          <a:blip r:embed="rId2"/>
          <a:stretch>
            <a:fillRect/>
          </a:stretch>
        </p:blipFill>
        <p:spPr>
          <a:xfrm>
            <a:off x="777240" y="914400"/>
            <a:ext cx="2069306" cy="3611880"/>
          </a:xfrm>
          <a:prstGeom prst="rect">
            <a:avLst/>
          </a:prstGeom>
        </p:spPr>
      </p:pic>
      <p:sp>
        <p:nvSpPr>
          <p:cNvPr id="8" name="Shape 4"/>
          <p:cNvSpPr/>
          <p:nvPr/>
        </p:nvSpPr>
        <p:spPr>
          <a:xfrm>
            <a:off x="777240" y="914400"/>
            <a:ext cx="2069306" cy="3611880"/>
          </a:xfrm>
          <a:prstGeom prst="rect">
            <a:avLst/>
          </a:prstGeom>
          <a:ln w="9525">
            <a:solidFill>
              <a:srgbClr val="D9D6CF"/>
            </a:solidFill>
            <a:prstDash val="solid"/>
          </a:ln>
        </p:spPr>
      </p:sp>
      <p:sp>
        <p:nvSpPr>
          <p:cNvPr id="9" name="Shape 5"/>
          <p:cNvSpPr/>
          <p:nvPr/>
        </p:nvSpPr>
        <p:spPr>
          <a:xfrm>
            <a:off x="475488" y="1186272"/>
            <a:ext cx="237744" cy="237744"/>
          </a:xfrm>
          <a:prstGeom prst="ellipse">
            <a:avLst/>
          </a:prstGeom>
          <a:solidFill>
            <a:srgbClr val="1651B0"/>
          </a:solidFill>
          <a:ln w="12700">
            <a:solidFill>
              <a:srgbClr val="FFFFFF"/>
            </a:solidFill>
            <a:prstDash val="solid"/>
          </a:ln>
        </p:spPr>
      </p:sp>
      <p:sp>
        <p:nvSpPr>
          <p:cNvPr id="10" name="Text 6"/>
          <p:cNvSpPr txBox="1"/>
          <p:nvPr/>
        </p:nvSpPr>
        <p:spPr>
          <a:xfrm>
            <a:off x="475488" y="118627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Shape 7"/>
          <p:cNvSpPr/>
          <p:nvPr/>
        </p:nvSpPr>
        <p:spPr>
          <a:xfrm>
            <a:off x="475488" y="1440491"/>
            <a:ext cx="237744" cy="237744"/>
          </a:xfrm>
          <a:prstGeom prst="ellipse">
            <a:avLst/>
          </a:prstGeom>
          <a:solidFill>
            <a:srgbClr val="1651B0"/>
          </a:solidFill>
          <a:ln w="12700">
            <a:solidFill>
              <a:srgbClr val="FFFFFF"/>
            </a:solidFill>
            <a:prstDash val="solid"/>
          </a:ln>
        </p:spPr>
      </p:sp>
      <p:sp>
        <p:nvSpPr>
          <p:cNvPr id="12" name="Text 8"/>
          <p:cNvSpPr txBox="1"/>
          <p:nvPr/>
        </p:nvSpPr>
        <p:spPr>
          <a:xfrm>
            <a:off x="475488" y="1440491"/>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Shape 9"/>
          <p:cNvSpPr/>
          <p:nvPr/>
        </p:nvSpPr>
        <p:spPr>
          <a:xfrm>
            <a:off x="475488" y="1718855"/>
            <a:ext cx="237744" cy="237744"/>
          </a:xfrm>
          <a:prstGeom prst="ellipse">
            <a:avLst/>
          </a:prstGeom>
          <a:solidFill>
            <a:srgbClr val="1651B0"/>
          </a:solidFill>
          <a:ln w="12700">
            <a:solidFill>
              <a:srgbClr val="FFFFFF"/>
            </a:solidFill>
            <a:prstDash val="solid"/>
          </a:ln>
        </p:spPr>
      </p:sp>
      <p:sp>
        <p:nvSpPr>
          <p:cNvPr id="14" name="Text 10"/>
          <p:cNvSpPr txBox="1"/>
          <p:nvPr/>
        </p:nvSpPr>
        <p:spPr>
          <a:xfrm>
            <a:off x="475488" y="1718855"/>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5" name="Shape 11"/>
          <p:cNvSpPr/>
          <p:nvPr/>
        </p:nvSpPr>
        <p:spPr>
          <a:xfrm>
            <a:off x="475488" y="2206237"/>
            <a:ext cx="237744" cy="237744"/>
          </a:xfrm>
          <a:prstGeom prst="ellipse">
            <a:avLst/>
          </a:prstGeom>
          <a:solidFill>
            <a:srgbClr val="1651B0"/>
          </a:solidFill>
          <a:ln w="12700">
            <a:solidFill>
              <a:srgbClr val="FFFFFF"/>
            </a:solidFill>
            <a:prstDash val="solid"/>
          </a:ln>
        </p:spPr>
      </p:sp>
      <p:sp>
        <p:nvSpPr>
          <p:cNvPr id="16" name="Text 12"/>
          <p:cNvSpPr txBox="1"/>
          <p:nvPr/>
        </p:nvSpPr>
        <p:spPr>
          <a:xfrm>
            <a:off x="475488" y="2206237"/>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7" name="Shape 13"/>
          <p:cNvSpPr/>
          <p:nvPr/>
        </p:nvSpPr>
        <p:spPr>
          <a:xfrm>
            <a:off x="475488" y="2469871"/>
            <a:ext cx="237744" cy="237744"/>
          </a:xfrm>
          <a:prstGeom prst="ellipse">
            <a:avLst/>
          </a:prstGeom>
          <a:solidFill>
            <a:srgbClr val="1651B0"/>
          </a:solidFill>
          <a:ln w="12700">
            <a:solidFill>
              <a:srgbClr val="FFFFFF"/>
            </a:solidFill>
            <a:prstDash val="solid"/>
          </a:ln>
        </p:spPr>
      </p:sp>
      <p:sp>
        <p:nvSpPr>
          <p:cNvPr id="18" name="Text 14"/>
          <p:cNvSpPr txBox="1"/>
          <p:nvPr/>
        </p:nvSpPr>
        <p:spPr>
          <a:xfrm>
            <a:off x="475488" y="2469871"/>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9" name="Shape 15"/>
          <p:cNvSpPr/>
          <p:nvPr/>
        </p:nvSpPr>
        <p:spPr>
          <a:xfrm>
            <a:off x="475488" y="2719989"/>
            <a:ext cx="237744" cy="237744"/>
          </a:xfrm>
          <a:prstGeom prst="ellipse">
            <a:avLst/>
          </a:prstGeom>
          <a:solidFill>
            <a:srgbClr val="1651B0"/>
          </a:solidFill>
          <a:ln w="12700">
            <a:solidFill>
              <a:srgbClr val="FFFFFF"/>
            </a:solidFill>
            <a:prstDash val="solid"/>
          </a:ln>
        </p:spPr>
      </p:sp>
      <p:sp>
        <p:nvSpPr>
          <p:cNvPr id="20" name="Text 16"/>
          <p:cNvSpPr txBox="1"/>
          <p:nvPr/>
        </p:nvSpPr>
        <p:spPr>
          <a:xfrm>
            <a:off x="475488" y="2719989"/>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1" name="Shape 17"/>
          <p:cNvSpPr/>
          <p:nvPr/>
        </p:nvSpPr>
        <p:spPr>
          <a:xfrm>
            <a:off x="475488" y="3194793"/>
            <a:ext cx="237744" cy="237744"/>
          </a:xfrm>
          <a:prstGeom prst="ellipse">
            <a:avLst/>
          </a:prstGeom>
          <a:solidFill>
            <a:srgbClr val="1651B0"/>
          </a:solidFill>
          <a:ln w="12700">
            <a:solidFill>
              <a:srgbClr val="FFFFFF"/>
            </a:solidFill>
            <a:prstDash val="solid"/>
          </a:ln>
        </p:spPr>
      </p:sp>
      <p:sp>
        <p:nvSpPr>
          <p:cNvPr id="22" name="Text 18"/>
          <p:cNvSpPr txBox="1"/>
          <p:nvPr/>
        </p:nvSpPr>
        <p:spPr>
          <a:xfrm>
            <a:off x="475488" y="3194793"/>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23" name="Shape 19"/>
          <p:cNvSpPr/>
          <p:nvPr/>
        </p:nvSpPr>
        <p:spPr>
          <a:xfrm>
            <a:off x="475488" y="3502342"/>
            <a:ext cx="237744" cy="237744"/>
          </a:xfrm>
          <a:prstGeom prst="ellipse">
            <a:avLst/>
          </a:prstGeom>
          <a:solidFill>
            <a:srgbClr val="1651B0"/>
          </a:solidFill>
          <a:ln w="12700">
            <a:solidFill>
              <a:srgbClr val="FFFFFF"/>
            </a:solidFill>
            <a:prstDash val="solid"/>
          </a:ln>
        </p:spPr>
      </p:sp>
      <p:sp>
        <p:nvSpPr>
          <p:cNvPr id="24" name="Text 20"/>
          <p:cNvSpPr txBox="1"/>
          <p:nvPr/>
        </p:nvSpPr>
        <p:spPr>
          <a:xfrm>
            <a:off x="475488" y="350234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25" name="Shape 21"/>
          <p:cNvSpPr/>
          <p:nvPr/>
        </p:nvSpPr>
        <p:spPr>
          <a:xfrm>
            <a:off x="475488" y="3758032"/>
            <a:ext cx="237744" cy="237744"/>
          </a:xfrm>
          <a:prstGeom prst="ellipse">
            <a:avLst/>
          </a:prstGeom>
          <a:solidFill>
            <a:srgbClr val="1651B0"/>
          </a:solidFill>
          <a:ln w="12700">
            <a:solidFill>
              <a:srgbClr val="FFFFFF"/>
            </a:solidFill>
            <a:prstDash val="solid"/>
          </a:ln>
        </p:spPr>
      </p:sp>
      <p:sp>
        <p:nvSpPr>
          <p:cNvPr id="26" name="Text 22"/>
          <p:cNvSpPr txBox="1"/>
          <p:nvPr/>
        </p:nvSpPr>
        <p:spPr>
          <a:xfrm>
            <a:off x="475488" y="375803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27" name="Shape 23"/>
          <p:cNvSpPr/>
          <p:nvPr/>
        </p:nvSpPr>
        <p:spPr>
          <a:xfrm>
            <a:off x="475488" y="4015193"/>
            <a:ext cx="237744" cy="237744"/>
          </a:xfrm>
          <a:prstGeom prst="ellipse">
            <a:avLst/>
          </a:prstGeom>
          <a:solidFill>
            <a:srgbClr val="1651B0"/>
          </a:solidFill>
          <a:ln w="12700">
            <a:solidFill>
              <a:srgbClr val="FFFFFF"/>
            </a:solidFill>
            <a:prstDash val="solid"/>
          </a:ln>
        </p:spPr>
      </p:sp>
      <p:sp>
        <p:nvSpPr>
          <p:cNvPr id="28" name="Text 24"/>
          <p:cNvSpPr txBox="1"/>
          <p:nvPr/>
        </p:nvSpPr>
        <p:spPr>
          <a:xfrm>
            <a:off x="475488" y="4015193"/>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840480" y="914400"/>
          <a:ext cx="4846320" cy="914400"/>
        </p:xfrm>
        <a:graphic>
          <a:graphicData uri="http://schemas.openxmlformats.org/drawingml/2006/table">
            <a:tbl>
              <a:tblPr/>
              <a:tblGrid>
                <a:gridCol w="320040"/>
                <a:gridCol w="1453896"/>
                <a:gridCol w="3072384"/>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Parameter</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means</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Project onto</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A planar face.</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Prevailing direction</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The direction profiles run along (+ flip). Default: the longest in-plane extent.</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Output</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One curve / One per input curve (exact) / Efficient (merges where exact).</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Approximation</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60 samples, degree 3, 0.01 mm, 24 control points.</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Debug</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Scan, curve detail, colour the profiles.</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The dialog: Edges</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Evaluate profiles  ·  Curve_tools</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2026-09-25</a:t>
            </a:r>
            <a:endParaRPr lang="en-US" sz="900" dirty="0"/>
          </a:p>
        </p:txBody>
      </p:sp>
      <p:pic>
        <p:nvPicPr>
          <p:cNvPr id="7" name="Image 1" descr="C:\Users\jed.yeiser\documents\featurescripts\docs\decks\evaluate_profiles\shots\dialog_edges.png">    </p:cNvPr>
          <p:cNvPicPr>
            <a:picLocks noChangeAspect="1"/>
          </p:cNvPicPr>
          <p:nvPr/>
        </p:nvPicPr>
        <p:blipFill>
          <a:blip r:embed="rId2"/>
          <a:stretch>
            <a:fillRect/>
          </a:stretch>
        </p:blipFill>
        <p:spPr>
          <a:xfrm>
            <a:off x="777240" y="914400"/>
            <a:ext cx="2444965" cy="3611880"/>
          </a:xfrm>
          <a:prstGeom prst="rect">
            <a:avLst/>
          </a:prstGeom>
        </p:spPr>
      </p:pic>
      <p:sp>
        <p:nvSpPr>
          <p:cNvPr id="8" name="Shape 4"/>
          <p:cNvSpPr/>
          <p:nvPr/>
        </p:nvSpPr>
        <p:spPr>
          <a:xfrm>
            <a:off x="777240" y="914400"/>
            <a:ext cx="2444965" cy="3611880"/>
          </a:xfrm>
          <a:prstGeom prst="rect">
            <a:avLst/>
          </a:prstGeom>
          <a:ln w="9525">
            <a:solidFill>
              <a:srgbClr val="D9D6CF"/>
            </a:solidFill>
            <a:prstDash val="solid"/>
          </a:ln>
        </p:spPr>
      </p:sp>
      <p:sp>
        <p:nvSpPr>
          <p:cNvPr id="9" name="Shape 5"/>
          <p:cNvSpPr/>
          <p:nvPr/>
        </p:nvSpPr>
        <p:spPr>
          <a:xfrm>
            <a:off x="475488" y="1257292"/>
            <a:ext cx="237744" cy="237744"/>
          </a:xfrm>
          <a:prstGeom prst="ellipse">
            <a:avLst/>
          </a:prstGeom>
          <a:solidFill>
            <a:srgbClr val="1651B0"/>
          </a:solidFill>
          <a:ln w="12700">
            <a:solidFill>
              <a:srgbClr val="FFFFFF"/>
            </a:solidFill>
            <a:prstDash val="solid"/>
          </a:ln>
        </p:spPr>
      </p:sp>
      <p:sp>
        <p:nvSpPr>
          <p:cNvPr id="10" name="Text 6"/>
          <p:cNvSpPr txBox="1"/>
          <p:nvPr/>
        </p:nvSpPr>
        <p:spPr>
          <a:xfrm>
            <a:off x="475488" y="125729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Shape 7"/>
          <p:cNvSpPr/>
          <p:nvPr/>
        </p:nvSpPr>
        <p:spPr>
          <a:xfrm>
            <a:off x="475488" y="1886677"/>
            <a:ext cx="237744" cy="237744"/>
          </a:xfrm>
          <a:prstGeom prst="ellipse">
            <a:avLst/>
          </a:prstGeom>
          <a:solidFill>
            <a:srgbClr val="1651B0"/>
          </a:solidFill>
          <a:ln w="12700">
            <a:solidFill>
              <a:srgbClr val="FFFFFF"/>
            </a:solidFill>
            <a:prstDash val="solid"/>
          </a:ln>
        </p:spPr>
      </p:sp>
      <p:sp>
        <p:nvSpPr>
          <p:cNvPr id="12" name="Text 8"/>
          <p:cNvSpPr txBox="1"/>
          <p:nvPr/>
        </p:nvSpPr>
        <p:spPr>
          <a:xfrm>
            <a:off x="475488" y="1886677"/>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Shape 9"/>
          <p:cNvSpPr/>
          <p:nvPr/>
        </p:nvSpPr>
        <p:spPr>
          <a:xfrm>
            <a:off x="475488" y="2413289"/>
            <a:ext cx="237744" cy="237744"/>
          </a:xfrm>
          <a:prstGeom prst="ellipse">
            <a:avLst/>
          </a:prstGeom>
          <a:solidFill>
            <a:srgbClr val="1651B0"/>
          </a:solidFill>
          <a:ln w="12700">
            <a:solidFill>
              <a:srgbClr val="FFFFFF"/>
            </a:solidFill>
            <a:prstDash val="solid"/>
          </a:ln>
        </p:spPr>
      </p:sp>
      <p:sp>
        <p:nvSpPr>
          <p:cNvPr id="14" name="Text 10"/>
          <p:cNvSpPr txBox="1"/>
          <p:nvPr/>
        </p:nvSpPr>
        <p:spPr>
          <a:xfrm>
            <a:off x="475488" y="2413289"/>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5" name="Shape 11"/>
          <p:cNvSpPr/>
          <p:nvPr/>
        </p:nvSpPr>
        <p:spPr>
          <a:xfrm>
            <a:off x="475488" y="2974391"/>
            <a:ext cx="237744" cy="237744"/>
          </a:xfrm>
          <a:prstGeom prst="ellipse">
            <a:avLst/>
          </a:prstGeom>
          <a:solidFill>
            <a:srgbClr val="1651B0"/>
          </a:solidFill>
          <a:ln w="12700">
            <a:solidFill>
              <a:srgbClr val="FFFFFF"/>
            </a:solidFill>
            <a:prstDash val="solid"/>
          </a:ln>
        </p:spPr>
      </p:sp>
      <p:sp>
        <p:nvSpPr>
          <p:cNvPr id="16" name="Text 12"/>
          <p:cNvSpPr txBox="1"/>
          <p:nvPr/>
        </p:nvSpPr>
        <p:spPr>
          <a:xfrm>
            <a:off x="475488" y="2974391"/>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7" name="Shape 13"/>
          <p:cNvSpPr/>
          <p:nvPr/>
        </p:nvSpPr>
        <p:spPr>
          <a:xfrm>
            <a:off x="475488" y="3337839"/>
            <a:ext cx="237744" cy="237744"/>
          </a:xfrm>
          <a:prstGeom prst="ellipse">
            <a:avLst/>
          </a:prstGeom>
          <a:solidFill>
            <a:srgbClr val="1651B0"/>
          </a:solidFill>
          <a:ln w="12700">
            <a:solidFill>
              <a:srgbClr val="FFFFFF"/>
            </a:solidFill>
            <a:prstDash val="solid"/>
          </a:ln>
        </p:spPr>
      </p:sp>
      <p:sp>
        <p:nvSpPr>
          <p:cNvPr id="18" name="Text 14"/>
          <p:cNvSpPr txBox="1"/>
          <p:nvPr/>
        </p:nvSpPr>
        <p:spPr>
          <a:xfrm>
            <a:off x="475488" y="3337839"/>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840480" y="914400"/>
          <a:ext cx="4846320" cy="914400"/>
        </p:xfrm>
        <a:graphic>
          <a:graphicData uri="http://schemas.openxmlformats.org/drawingml/2006/table">
            <a:tbl>
              <a:tblPr/>
              <a:tblGrid>
                <a:gridCol w="320040"/>
                <a:gridCol w="1453896"/>
                <a:gridCol w="3072384"/>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Parameter</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means</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Profile from</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EDGES.</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Edges to project</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The chain.</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Project onto</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A planar face.</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Prevailing direction</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Default: the chain's chord.</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Output</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One curve / One per input curve / Efficient -- see the examples.</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Example: One per input curve</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Evaluate profiles  ·  Curve_tools</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2026-09-25</a:t>
            </a:r>
            <a:endParaRPr lang="en-US" sz="900" dirty="0"/>
          </a:p>
        </p:txBody>
      </p:sp>
      <p:pic>
        <p:nvPicPr>
          <p:cNvPr id="7" name="Image 1" descr="C:\Users\jed.yeiser\documents\featurescripts\docs\decks\evaluate_profiles\shots\p10.png">    </p:cNvPr>
          <p:cNvPicPr>
            <a:picLocks noChangeAspect="1"/>
          </p:cNvPicPr>
          <p:nvPr/>
        </p:nvPicPr>
        <p:blipFill>
          <a:blip r:embed="rId2"/>
          <a:stretch>
            <a:fillRect/>
          </a:stretch>
        </p:blipFill>
        <p:spPr>
          <a:xfrm>
            <a:off x="457200" y="1092522"/>
            <a:ext cx="8229600" cy="2158355"/>
          </a:xfrm>
          <a:prstGeom prst="rect">
            <a:avLst/>
          </a:prstGeom>
        </p:spPr>
      </p:pic>
      <p:sp>
        <p:nvSpPr>
          <p:cNvPr id="8" name="Text 4"/>
          <p:cNvSpPr txBox="1"/>
          <p:nvPr/>
        </p:nvSpPr>
        <p:spPr>
          <a:xfrm>
            <a:off x="457200" y="3520440"/>
            <a:ext cx="8229600" cy="1097280"/>
          </a:xfrm>
          <a:prstGeom prst="rect">
            <a:avLst/>
          </a:prstGeom>
          <a:noFill/>
          <a:ln/>
        </p:spPr>
        <p:txBody>
          <a:bodyPr wrap="square" lIns="0" tIns="0" rIns="0" bIns="0" rtlCol="0" anchor="t"/>
          <a:lstStyle/>
          <a:p>
            <a:pPr indent="0" marL="0">
              <a:buNone/>
            </a:pPr>
            <a:r>
              <a:rPr lang="en-US" sz="1250" b="1" dirty="0">
                <a:solidFill>
                  <a:srgbClr val="1F2329"/>
                </a:solidFill>
                <a:latin typeface="Calibri" pitchFamily="34" charset="0"/>
                <a:ea typeface="Calibri" pitchFamily="34" charset="-122"/>
                <a:cs typeface="Calibri" pitchFamily="34" charset="-120"/>
              </a:rPr>
              <a:t>P10: lines 0-200-400 (collinear), a line to (700, 700), an R100 hook -- projected onto Top</a:t>
            </a:r>
            <a:endParaRPr lang="en-US" sz="1250" dirty="0"/>
          </a:p>
          <a:p>
            <a:pPr indent="0" marL="0">
              <a:buNone/>
            </a:pPr>
            <a:r>
              <a:rPr lang="en-US" sz="1250" dirty="0">
                <a:solidFill>
                  <a:srgbClr val="52514E"/>
                </a:solidFill>
                <a:latin typeface="Calibri" pitchFamily="34" charset="0"/>
                <a:ea typeface="Calibri" pitchFamily="34" charset="-122"/>
                <a:cs typeface="Calibri" pitchFamily="34" charset="-120"/>
              </a:rPr>
              <a:t>4 exact edges: the projected edges themselves, the arc cut exactly where it turns back (at (759.55, 835.96)).</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Example: Efficient</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Evaluate profiles  ·  Curve_tools</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2026-09-25</a:t>
            </a:r>
            <a:endParaRPr lang="en-US" sz="900" dirty="0"/>
          </a:p>
        </p:txBody>
      </p:sp>
      <p:pic>
        <p:nvPicPr>
          <p:cNvPr id="7" name="Image 1" descr="C:\Users\jed.yeiser\documents\featurescripts\docs\decks\evaluate_profiles\shots\p11.png">    </p:cNvPr>
          <p:cNvPicPr>
            <a:picLocks noChangeAspect="1"/>
          </p:cNvPicPr>
          <p:nvPr/>
        </p:nvPicPr>
        <p:blipFill>
          <a:blip r:embed="rId2"/>
          <a:stretch>
            <a:fillRect/>
          </a:stretch>
        </p:blipFill>
        <p:spPr>
          <a:xfrm>
            <a:off x="1108341" y="914400"/>
            <a:ext cx="6927317" cy="2514600"/>
          </a:xfrm>
          <a:prstGeom prst="rect">
            <a:avLst/>
          </a:prstGeom>
        </p:spPr>
      </p:pic>
      <p:sp>
        <p:nvSpPr>
          <p:cNvPr id="8" name="Text 4"/>
          <p:cNvSpPr txBox="1"/>
          <p:nvPr/>
        </p:nvSpPr>
        <p:spPr>
          <a:xfrm>
            <a:off x="457200" y="3520440"/>
            <a:ext cx="8229600" cy="1097280"/>
          </a:xfrm>
          <a:prstGeom prst="rect">
            <a:avLst/>
          </a:prstGeom>
          <a:noFill/>
          <a:ln/>
        </p:spPr>
        <p:txBody>
          <a:bodyPr wrap="square" lIns="0" tIns="0" rIns="0" bIns="0" rtlCol="0" anchor="t"/>
          <a:lstStyle/>
          <a:p>
            <a:pPr indent="0" marL="0">
              <a:buNone/>
            </a:pPr>
            <a:r>
              <a:rPr lang="en-US" sz="1250" b="1" dirty="0">
                <a:solidFill>
                  <a:srgbClr val="1F2329"/>
                </a:solidFill>
                <a:latin typeface="Calibri" pitchFamily="34" charset="0"/>
                <a:ea typeface="Calibri" pitchFamily="34" charset="-122"/>
                <a:cs typeface="Calibri" pitchFamily="34" charset="-120"/>
              </a:rPr>
              <a:t>P11: the same chain, Efficient</a:t>
            </a:r>
            <a:endParaRPr lang="en-US" sz="1250" dirty="0"/>
          </a:p>
          <a:p>
            <a:pPr indent="0" marL="0">
              <a:buNone/>
            </a:pPr>
            <a:r>
              <a:rPr lang="en-US" sz="1250" dirty="0">
                <a:solidFill>
                  <a:srgbClr val="52514E"/>
                </a:solidFill>
                <a:latin typeface="Calibri" pitchFamily="34" charset="0"/>
                <a:ea typeface="Calibri" pitchFamily="34" charset="-122"/>
                <a:cs typeface="Calibri" pitchFamily="34" charset="-120"/>
              </a:rPr>
              <a:t>3 edges: the two collinear lines merged into one 400 mm line; the slanted line and the R100 arc kept exact. One curve (P9) gives a single fitted spline instead.</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Outputs and messages</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Evaluate profiles  ·  Curve_tools</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2026-09-25</a:t>
            </a:r>
            <a:endParaRPr lang="en-US" sz="900" dirty="0"/>
          </a:p>
        </p:txBody>
      </p:sp>
      <p:sp>
        <p:nvSpPr>
          <p:cNvPr id="7" name="Text 4"/>
          <p:cNvSpPr txBox="1"/>
          <p:nvPr/>
        </p:nvSpPr>
        <p:spPr>
          <a:xfrm>
            <a:off x="457200" y="896112"/>
            <a:ext cx="3886200" cy="274320"/>
          </a:xfrm>
          <a:prstGeom prst="rect">
            <a:avLst/>
          </a:prstGeom>
          <a:noFill/>
          <a:ln/>
        </p:spPr>
        <p:txBody>
          <a:bodyPr wrap="square" lIns="0" tIns="0" rIns="0" bIns="0" rtlCol="0" anchor="ctr"/>
          <a:lstStyle/>
          <a:p>
            <a:pPr indent="0" marL="0">
              <a:buNone/>
            </a:pPr>
            <a:r>
              <a:rPr lang="en-US" sz="1200" b="1" dirty="0">
                <a:solidFill>
                  <a:srgbClr val="1651B0"/>
                </a:solidFill>
                <a:latin typeface="Calibri" pitchFamily="34" charset="0"/>
                <a:ea typeface="Calibri" pitchFamily="34" charset="-122"/>
                <a:cs typeface="Calibri" pitchFamily="34" charset="-120"/>
              </a:rPr>
              <a:t>Published for Extract variables</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3886200" cy="914400"/>
        </p:xfrm>
        <a:graphic>
          <a:graphicData uri="http://schemas.openxmlformats.org/drawingml/2006/table">
            <a:tbl>
              <a:tblPr/>
              <a:tblGrid>
                <a:gridCol w="1399032"/>
                <a:gridCol w="2487168"/>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Key</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What it holds</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r>
              <a:tr h="0">
                <a:tc>
                  <a:txBody>
                    <a:bodyPr/>
                    <a:lstStyle/>
                    <a:p>
                      <a:pPr indent="0" marL="0">
                        <a:buNone/>
                      </a:pPr>
                      <a:r>
                        <a:rPr lang="en-US" sz="950" b="1" dirty="0">
                          <a:solidFill>
                            <a:srgbClr val="1F2329"/>
                          </a:solidFill>
                          <a:latin typeface="Calibri" pitchFamily="34" charset="0"/>
                          <a:ea typeface="Calibri" pitchFamily="34" charset="-122"/>
                          <a:cs typeface="Calibri" pitchFamily="34" charset="-120"/>
                        </a:rPr>
                        <a:t>top / bottom / middle</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950" dirty="0">
                          <a:solidFill>
                            <a:srgbClr val="1F2329"/>
                          </a:solidFill>
                          <a:latin typeface="Calibri" pitchFamily="34" charset="0"/>
                          <a:ea typeface="Calibri" pitchFamily="34" charset="-122"/>
                          <a:cs typeface="Calibri" pitchFamily="34" charset="-120"/>
                        </a:rPr>
                        <a:t>The named profile wires (empty when not requested).</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950" b="1" dirty="0">
                          <a:solidFill>
                            <a:srgbClr val="1F2329"/>
                          </a:solidFill>
                          <a:latin typeface="Calibri" pitchFamily="34" charset="0"/>
                          <a:ea typeface="Calibri" pitchFamily="34" charset="-122"/>
                          <a:cs typeface="Calibri" pitchFamily="34" charset="-120"/>
                        </a:rPr>
                        <a:t>periphery</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329"/>
                          </a:solidFill>
                          <a:latin typeface="Calibri" pitchFamily="34" charset="0"/>
                          <a:ea typeface="Calibri" pitchFamily="34" charset="-122"/>
                          <a:cs typeface="Calibri" pitchFamily="34" charset="-120"/>
                        </a:rPr>
                        <a:t>The undivided outline (Return = Periphery).</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F2329"/>
                          </a:solidFill>
                          <a:latin typeface="Calibri" pitchFamily="34" charset="0"/>
                          <a:ea typeface="Calibri" pitchFamily="34" charset="-122"/>
                          <a:cs typeface="Calibri" pitchFamily="34" charset="-120"/>
                        </a:rPr>
                        <a:t>connectors</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950" dirty="0">
                          <a:solidFill>
                            <a:srgbClr val="1F2329"/>
                          </a:solidFill>
                          <a:latin typeface="Calibri" pitchFamily="34" charset="0"/>
                          <a:ea typeface="Calibri" pitchFamily="34" charset="-122"/>
                          <a:cs typeface="Calibri" pitchFamily="34" charset="-120"/>
                        </a:rPr>
                        <a:t>The pieces joining top and bottom (Return = Full).</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950" b="1" dirty="0">
                          <a:solidFill>
                            <a:srgbClr val="1F2329"/>
                          </a:solidFill>
                          <a:latin typeface="Calibri" pitchFamily="34" charset="0"/>
                          <a:ea typeface="Calibri" pitchFamily="34" charset="-122"/>
                          <a:cs typeface="Calibri" pitchFamily="34" charset="-120"/>
                        </a:rPr>
                        <a:t>length</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329"/>
                          </a:solidFill>
                          <a:latin typeface="Calibri" pitchFamily="34" charset="0"/>
                          <a:ea typeface="Calibri" pitchFamily="34" charset="-122"/>
                          <a:cs typeface="Calibri" pitchFamily="34" charset="-120"/>
                        </a:rPr>
                        <a:t>Length of the retained projection (the periphery for a part).</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F2329"/>
                          </a:solidFill>
                          <a:latin typeface="Calibri" pitchFamily="34" charset="0"/>
                          <a:ea typeface="Calibri" pitchFamily="34" charset="-122"/>
                          <a:cs typeface="Calibri" pitchFamily="34" charset="-120"/>
                        </a:rPr>
                        <a:t>trimmedStart / trimmedEnd</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950" dirty="0">
                          <a:solidFill>
                            <a:srgbClr val="1F2329"/>
                          </a:solidFill>
                          <a:latin typeface="Calibri" pitchFamily="34" charset="0"/>
                          <a:ea typeface="Calibri" pitchFamily="34" charset="-122"/>
                          <a:cs typeface="Calibri" pitchFamily="34" charset="-120"/>
                        </a:rPr>
                        <a:t>Whether the projection was cut at each end.</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bl>
          </a:graphicData>
        </a:graphic>
      </p:graphicFrame>
      <p:sp>
        <p:nvSpPr>
          <p:cNvPr id="9" name="Text 5"/>
          <p:cNvSpPr txBox="1"/>
          <p:nvPr/>
        </p:nvSpPr>
        <p:spPr>
          <a:xfrm>
            <a:off x="4617720" y="896112"/>
            <a:ext cx="4069080" cy="274320"/>
          </a:xfrm>
          <a:prstGeom prst="rect">
            <a:avLst/>
          </a:prstGeom>
          <a:noFill/>
          <a:ln/>
        </p:spPr>
        <p:txBody>
          <a:bodyPr wrap="square" lIns="0" tIns="0" rIns="0" bIns="0" rtlCol="0" anchor="ctr"/>
          <a:lstStyle/>
          <a:p>
            <a:pPr indent="0" marL="0">
              <a:buNone/>
            </a:pPr>
            <a:r>
              <a:rPr lang="en-US" sz="1200" b="1" dirty="0">
                <a:solidFill>
                  <a:srgbClr val="1651B0"/>
                </a:solidFill>
                <a:latin typeface="Calibri" pitchFamily="34" charset="0"/>
                <a:ea typeface="Calibri" pitchFamily="34" charset="-122"/>
                <a:cs typeface="Calibri" pitchFamily="34" charset="-120"/>
              </a:rPr>
              <a:t>Messages</a:t>
            </a:r>
            <a:endParaRPr lang="en-US" sz="12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4617720" y="1188720"/>
          <a:ext cx="4069080" cy="914400"/>
        </p:xfrm>
        <a:graphic>
          <a:graphicData uri="http://schemas.openxmlformats.org/drawingml/2006/table">
            <a:tbl>
              <a:tblPr/>
              <a:tblGrid>
                <a:gridCol w="813816"/>
                <a:gridCol w="3255264"/>
              </a:tblGrid>
              <a:tr h="0">
                <a:tc>
                  <a:txBody>
                    <a:bodyPr/>
                    <a:lstStyle/>
                    <a:p>
                      <a:pPr indent="0" marL="0">
                        <a:buNone/>
                      </a:pP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Message / what to do</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r>
              <a:tr h="0">
                <a:tc>
                  <a:txBody>
                    <a:bodyPr/>
                    <a:lstStyle/>
                    <a:p>
                      <a:pPr indent="0" marL="0">
                        <a:buNone/>
                      </a:pPr>
                      <a:r>
                        <a:rPr lang="en-US" sz="950" b="1" dirty="0">
                          <a:solidFill>
                            <a:srgbClr val="C8453F"/>
                          </a:solidFill>
                          <a:latin typeface="Calibri" pitchFamily="34" charset="0"/>
                          <a:ea typeface="Calibri" pitchFamily="34" charset="-122"/>
                          <a:cs typeface="Calibri" pitchFamily="34" charset="-120"/>
                        </a:rPr>
                        <a:t>Error</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950" dirty="0">
                          <a:solidFill>
                            <a:srgbClr val="1F2329"/>
                          </a:solidFill>
                          <a:latin typeface="Calibri" pitchFamily="34" charset="0"/>
                          <a:ea typeface="Calibri" pitchFamily="34" charset="-122"/>
                          <a:cs typeface="Calibri" pitchFamily="34" charset="-120"/>
                        </a:rPr>
                        <a:t>Nothing projected / not a single connected chain</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950" b="1" dirty="0">
                          <a:solidFill>
                            <a:srgbClr val="C8453F"/>
                          </a:solidFill>
                          <a:latin typeface="Calibri" pitchFamily="34" charset="0"/>
                          <a:ea typeface="Calibri" pitchFamily="34" charset="-122"/>
                          <a:cs typeface="Calibri" pitchFamily="34" charset="-120"/>
                        </a:rPr>
                        <a:t>Error</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329"/>
                          </a:solidFill>
                          <a:latin typeface="Calibri" pitchFamily="34" charset="0"/>
                          <a:ea typeface="Calibri" pitchFamily="34" charset="-122"/>
                          <a:cs typeface="Calibri" pitchFamily="34" charset="-120"/>
                        </a:rPr>
                        <a:t>...seen edge-on: project its edges instead</a:t>
                      </a:r>
                      <a:endParaRPr lang="en-US" sz="950" dirty="0">
                        <a:latin typeface="Calibri" charset="0"/>
                        <a:ea typeface="Calibri" charset="0"/>
                        <a:cs typeface="Calibri" charset="0"/>
                      </a:endParaRPr>
                    </a:p>
                    <a:p>
                      <a:pPr indent="0" marL="0">
                        <a:buNone/>
                      </a:pPr>
                      <a:r>
                        <a:rPr lang="en-US" sz="950" dirty="0">
                          <a:solidFill>
                            <a:srgbClr val="1F2329"/>
                          </a:solidFill>
                          <a:latin typeface="Calibri" pitchFamily="34" charset="0"/>
                          <a:ea typeface="Calibri" pitchFamily="34" charset="-122"/>
                          <a:cs typeface="Calibri" pitchFamily="34" charset="-120"/>
                        </a:rPr>
                        <a:t>A surface lying in the projection direction has no outline.</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C8453F"/>
                          </a:solidFill>
                          <a:latin typeface="Calibri" pitchFamily="34" charset="0"/>
                          <a:ea typeface="Calibri" pitchFamily="34" charset="-122"/>
                          <a:cs typeface="Calibri" pitchFamily="34" charset="-120"/>
                        </a:rPr>
                        <a:t>Error</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950" dirty="0">
                          <a:solidFill>
                            <a:srgbClr val="1F2329"/>
                          </a:solidFill>
                          <a:latin typeface="Calibri" pitchFamily="34" charset="0"/>
                          <a:ea typeface="Calibri" pitchFamily="34" charset="-122"/>
                          <a:cs typeface="Calibri" pitchFamily="34" charset="-120"/>
                        </a:rPr>
                        <a:t>does not separate into a top and a bottom profile</a:t>
                      </a:r>
                      <a:endParaRPr lang="en-US" sz="950" dirty="0">
                        <a:latin typeface="Calibri" charset="0"/>
                        <a:ea typeface="Calibri" charset="0"/>
                        <a:cs typeface="Calibri" charset="0"/>
                      </a:endParaRPr>
                    </a:p>
                    <a:p>
                      <a:pPr indent="0" marL="0">
                        <a:buNone/>
                      </a:pPr>
                      <a:r>
                        <a:rPr lang="en-US" sz="950" dirty="0">
                          <a:solidFill>
                            <a:srgbClr val="1F2329"/>
                          </a:solidFill>
                          <a:latin typeface="Calibri" pitchFamily="34" charset="0"/>
                          <a:ea typeface="Calibri" pitchFamily="34" charset="-122"/>
                          <a:cs typeface="Calibri" pitchFamily="34" charset="-120"/>
                        </a:rPr>
                        <a:t>Check the prevailing direction.</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950" b="1" dirty="0">
                          <a:solidFill>
                            <a:srgbClr val="1BAF7A"/>
                          </a:solidFill>
                          <a:latin typeface="Calibri" pitchFamily="34" charset="0"/>
                          <a:ea typeface="Calibri" pitchFamily="34" charset="-122"/>
                          <a:cs typeface="Calibri" pitchFamily="34" charset="-120"/>
                        </a:rPr>
                        <a:t>Info</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329"/>
                          </a:solidFill>
                          <a:latin typeface="Calibri" pitchFamily="34" charset="0"/>
                          <a:ea typeface="Calibri" pitchFamily="34" charset="-122"/>
                          <a:cs typeface="Calibri" pitchFamily="34" charset="-120"/>
                        </a:rPr>
                        <a:t>Merged N outline edge(s) shorter than ...</a:t>
                      </a:r>
                      <a:endParaRPr lang="en-US" sz="950" dirty="0">
                        <a:latin typeface="Calibri" charset="0"/>
                        <a:ea typeface="Calibri" charset="0"/>
                        <a:cs typeface="Calibri" charset="0"/>
                      </a:endParaRPr>
                    </a:p>
                    <a:p>
                      <a:pPr indent="0" marL="0">
                        <a:buNone/>
                      </a:pPr>
                      <a:r>
                        <a:rPr lang="en-US" sz="950" dirty="0">
                          <a:solidFill>
                            <a:srgbClr val="1F2329"/>
                          </a:solidFill>
                          <a:latin typeface="Calibri" pitchFamily="34" charset="0"/>
                          <a:ea typeface="Calibri" pitchFamily="34" charset="-122"/>
                          <a:cs typeface="Calibri" pitchFamily="34" charset="-120"/>
                        </a:rPr>
                        <a:t>Micro-edges removed; locations listed.</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Tips and limits</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Evaluate profiles  ·  Curve_tools</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2026-09-25</a:t>
            </a:r>
            <a:endParaRPr lang="en-US" sz="900" dirty="0"/>
          </a:p>
        </p:txBody>
      </p:sp>
      <p:sp>
        <p:nvSpPr>
          <p:cNvPr id="7" name="Shape 4"/>
          <p:cNvSpPr/>
          <p:nvPr/>
        </p:nvSpPr>
        <p:spPr>
          <a:xfrm>
            <a:off x="457200" y="960120"/>
            <a:ext cx="274320" cy="274320"/>
          </a:xfrm>
          <a:prstGeom prst="ellipse">
            <a:avLst/>
          </a:prstGeom>
          <a:solidFill>
            <a:srgbClr val="1BAF7A"/>
          </a:solidFill>
          <a:ln w="12700">
            <a:solidFill>
              <a:srgbClr val="1BAF7A"/>
            </a:solidFill>
            <a:prstDash val="solid"/>
          </a:ln>
        </p:spPr>
      </p:sp>
      <p:sp>
        <p:nvSpPr>
          <p:cNvPr id="8" name="Text 5"/>
          <p:cNvSpPr txBox="1"/>
          <p:nvPr/>
        </p:nvSpPr>
        <p:spPr>
          <a:xfrm>
            <a:off x="457200" y="9601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9" name="Text 6"/>
          <p:cNvSpPr txBox="1"/>
          <p:nvPr/>
        </p:nvSpPr>
        <p:spPr>
          <a:xfrm>
            <a:off x="841248" y="914400"/>
            <a:ext cx="7845552" cy="978408"/>
          </a:xfrm>
          <a:prstGeom prst="rect">
            <a:avLst/>
          </a:prstGeom>
          <a:noFill/>
          <a:ln/>
        </p:spPr>
        <p:txBody>
          <a:bodyPr wrap="square" lIns="0" tIns="0" rIns="0" bIns="0" rtlCol="0" anchor="t"/>
          <a:lstStyle/>
          <a:p>
            <a:pPr indent="0" marL="0">
              <a:buNone/>
            </a:pPr>
            <a:r>
              <a:rPr lang="en-US" sz="1100" b="1" dirty="0">
                <a:solidFill>
                  <a:srgbClr val="1F2329"/>
                </a:solidFill>
                <a:latin typeface="Calibri" pitchFamily="34" charset="0"/>
                <a:ea typeface="Calibri" pitchFamily="34" charset="-122"/>
                <a:cs typeface="Calibri" pitchFamily="34" charset="-120"/>
              </a:rPr>
              <a:t>Prefer exact output</a:t>
            </a:r>
            <a:endParaRPr lang="en-US" sz="1100" dirty="0"/>
          </a:p>
          <a:p>
            <a:pPr indent="0" marL="0">
              <a:buNone/>
            </a:pPr>
            <a:r>
              <a:rPr lang="en-US" sz="1100" dirty="0">
                <a:solidFill>
                  <a:srgbClr val="52514E"/>
                </a:solidFill>
                <a:latin typeface="Calibri" pitchFamily="34" charset="0"/>
                <a:ea typeface="Calibri" pitchFamily="34" charset="-122"/>
                <a:cs typeface="Calibri" pitchFamily="34" charset="-120"/>
              </a:rPr>
              <a:t>One per input curve or Efficient keep lines and arcs exact; One curve is a fit.</a:t>
            </a:r>
            <a:endParaRPr lang="en-US" sz="1100" dirty="0"/>
          </a:p>
        </p:txBody>
      </p:sp>
      <p:sp>
        <p:nvSpPr>
          <p:cNvPr id="10" name="Shape 7"/>
          <p:cNvSpPr/>
          <p:nvPr/>
        </p:nvSpPr>
        <p:spPr>
          <a:xfrm>
            <a:off x="457200" y="2011680"/>
            <a:ext cx="274320" cy="274320"/>
          </a:xfrm>
          <a:prstGeom prst="ellipse">
            <a:avLst/>
          </a:prstGeom>
          <a:solidFill>
            <a:srgbClr val="C9820A"/>
          </a:solidFill>
          <a:ln w="12700">
            <a:solidFill>
              <a:srgbClr val="C9820A"/>
            </a:solidFill>
            <a:prstDash val="solid"/>
          </a:ln>
        </p:spPr>
      </p:sp>
      <p:sp>
        <p:nvSpPr>
          <p:cNvPr id="11" name="Text 8"/>
          <p:cNvSpPr txBox="1"/>
          <p:nvPr/>
        </p:nvSpPr>
        <p:spPr>
          <a:xfrm>
            <a:off x="457200" y="201168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2" name="Text 9"/>
          <p:cNvSpPr txBox="1"/>
          <p:nvPr/>
        </p:nvSpPr>
        <p:spPr>
          <a:xfrm>
            <a:off x="841248" y="1965960"/>
            <a:ext cx="7845552" cy="978408"/>
          </a:xfrm>
          <a:prstGeom prst="rect">
            <a:avLst/>
          </a:prstGeom>
          <a:noFill/>
          <a:ln/>
        </p:spPr>
        <p:txBody>
          <a:bodyPr wrap="square" lIns="0" tIns="0" rIns="0" bIns="0" rtlCol="0" anchor="t"/>
          <a:lstStyle/>
          <a:p>
            <a:pPr indent="0" marL="0">
              <a:buNone/>
            </a:pPr>
            <a:r>
              <a:rPr lang="en-US" sz="1100" b="1" dirty="0">
                <a:solidFill>
                  <a:srgbClr val="1F2329"/>
                </a:solidFill>
                <a:latin typeface="Calibri" pitchFamily="34" charset="0"/>
                <a:ea typeface="Calibri" pitchFamily="34" charset="-122"/>
                <a:cs typeface="Calibri" pitchFamily="34" charset="-120"/>
              </a:rPr>
              <a:t>Longest loop only</a:t>
            </a:r>
            <a:endParaRPr lang="en-US" sz="1100" dirty="0"/>
          </a:p>
          <a:p>
            <a:pPr indent="0" marL="0">
              <a:buNone/>
            </a:pPr>
            <a:r>
              <a:rPr lang="en-US" sz="1100" dirty="0">
                <a:solidFill>
                  <a:srgbClr val="52514E"/>
                </a:solidFill>
                <a:latin typeface="Calibri" pitchFamily="34" charset="0"/>
                <a:ea typeface="Calibri" pitchFamily="34" charset="-122"/>
                <a:cs typeface="Calibri" pitchFamily="34" charset="-120"/>
              </a:rPr>
              <a:t>An outline with several loops keeps only the longest.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Where it lives</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Evaluate profiles  ·  Curve_tools</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2026-09-25</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2011680"/>
                <a:gridCol w="6217920"/>
              </a:tblGrid>
              <a:tr h="0">
                <a:tc>
                  <a:txBody>
                    <a:bodyPr/>
                    <a:lstStyle/>
                    <a:p>
                      <a:pPr indent="0" marL="0">
                        <a:buNone/>
                      </a:pP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r>
              <a:tr h="0">
                <a:tc>
                  <a:txBody>
                    <a:bodyPr/>
                    <a:lstStyle/>
                    <a:p>
                      <a:pPr indent="0" marL="0">
                        <a:buNone/>
                      </a:pPr>
                      <a:r>
                        <a:rPr lang="en-US" sz="1100" b="1" dirty="0">
                          <a:solidFill>
                            <a:srgbClr val="1F2329"/>
                          </a:solidFill>
                          <a:latin typeface="Calibri" pitchFamily="34" charset="0"/>
                          <a:ea typeface="Calibri" pitchFamily="34" charset="-122"/>
                          <a:cs typeface="Calibri" pitchFamily="34" charset="-120"/>
                        </a:rPr>
                        <a:t>Document</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Curve_tools (2143812a99089658c704f0bc)</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100" b="1" dirty="0">
                          <a:solidFill>
                            <a:srgbClr val="1F2329"/>
                          </a:solidFill>
                          <a:latin typeface="Calibri" pitchFamily="34" charset="0"/>
                          <a:ea typeface="Calibri" pitchFamily="34" charset="-122"/>
                          <a:cs typeface="Calibri" pitchFamily="34" charset="-120"/>
                        </a:rPr>
                        <a:t>Tab</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evaluate_profiles  (uses curve_core)</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329"/>
                          </a:solidFill>
                          <a:latin typeface="Calibri" pitchFamily="34" charset="0"/>
                          <a:ea typeface="Calibri" pitchFamily="34" charset="-122"/>
                          <a:cs typeface="Calibri" pitchFamily="34" charset="-120"/>
                        </a:rPr>
                        <a:t>Tests</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Evaluate profiles tests studio: P1-P11 (P3 must error)</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100" b="1" dirty="0">
                          <a:solidFill>
                            <a:srgbClr val="1F2329"/>
                          </a:solidFill>
                          <a:latin typeface="Calibri" pitchFamily="34" charset="0"/>
                          <a:ea typeface="Calibri" pitchFamily="34" charset="-122"/>
                          <a:cs typeface="Calibri" pitchFamily="34" charset="-120"/>
                        </a:rPr>
                        <a:t>Examples</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Evaluate profiles tests studio</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329"/>
                          </a:solidFill>
                          <a:latin typeface="Calibri" pitchFamily="34" charset="0"/>
                          <a:ea typeface="Calibri" pitchFamily="34" charset="-122"/>
                          <a:cs typeface="Calibri" pitchFamily="34" charset="-120"/>
                        </a:rPr>
                        <a:t>Explainer</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docs/explainers/curve_tools/curve_tools_explained.md, section 2.4</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100" b="1" dirty="0">
                          <a:solidFill>
                            <a:srgbClr val="1F2329"/>
                          </a:solidFill>
                          <a:latin typeface="Calibri" pitchFamily="34" charset="0"/>
                          <a:ea typeface="Calibri" pitchFamily="34" charset="-122"/>
                          <a:cs typeface="Calibri" pitchFamily="34" charset="-120"/>
                        </a:rPr>
                        <a:t>Related</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Clean wire, Map curve, Merge curve, Evaluate profiles, Fillet wire; Extract variables</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Evaluate profiles</dc:title>
  <dc:subject>PptxGenJS Presentation</dc:subject>
  <dc:creator>FeatureScript docs</dc:creator>
  <cp:lastModifiedBy>FeatureScript docs</cp:lastModifiedBy>
  <cp:revision>1</cp:revision>
  <dcterms:created xsi:type="dcterms:W3CDTF">2026-09-26T03:46:10Z</dcterms:created>
  <dcterms:modified xsi:type="dcterms:W3CDTF">2026-09-26T03:46:10Z</dcterms:modified>
</cp:coreProperties>
</file>