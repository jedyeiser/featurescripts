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B"/>
        </a:solidFill>
      </p:bgPr>
    </p:bg>
    <p:spTree>
      <p:nvGrpSpPr>
        <p:cNvPr id="1" name=""/>
        <p:cNvGrpSpPr/>
        <p:nvPr/>
      </p:nvGrpSpPr>
      <p:grpSpPr>
        <a:xfrm>
          <a:off x="0" y="0"/>
          <a:ext cx="0" cy="0"/>
          <a:chOff x="0" y="0"/>
          <a:chExt cx="0" cy="0"/>
        </a:xfrm>
      </p:grpSpPr>
      <p:sp>
        <p:nvSpPr>
          <p:cNvPr id="2" name="Shape 0"/>
          <p:cNvSpPr/>
          <p:nvPr/>
        </p:nvSpPr>
        <p:spPr>
          <a:xfrm>
            <a:off x="457200" y="1234440"/>
            <a:ext cx="1554480" cy="1554480"/>
          </a:xfrm>
          <a:prstGeom prst="roundRect">
            <a:avLst>
              <a:gd name="adj" fmla="val 10588"/>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685800" y="1463040"/>
            <a:ext cx="1097280" cy="1097280"/>
          </a:xfrm>
          <a:prstGeom prst="rect">
            <a:avLst/>
          </a:prstGeom>
        </p:spPr>
      </p:pic>
      <p:sp>
        <p:nvSpPr>
          <p:cNvPr id="4" name="Text 1"/>
          <p:cNvSpPr txBox="1"/>
          <p:nvPr/>
        </p:nvSpPr>
        <p:spPr>
          <a:xfrm>
            <a:off x="2377440" y="1188720"/>
            <a:ext cx="6309360" cy="868680"/>
          </a:xfrm>
          <a:prstGeom prst="rect">
            <a:avLst/>
          </a:prstGeom>
          <a:noFill/>
          <a:ln/>
        </p:spPr>
        <p:txBody>
          <a:bodyPr wrap="square" lIns="0" tIns="0" rIns="0" bIns="0" rtlCol="0" anchor="b"/>
          <a:lstStyle/>
          <a:p>
            <a:pPr indent="0" marL="0">
              <a:buNone/>
            </a:pPr>
            <a:r>
              <a:rPr lang="en-US" sz="4400" b="1" dirty="0">
                <a:solidFill>
                  <a:srgbClr val="FFFFFF"/>
                </a:solidFill>
                <a:latin typeface="Calibri" pitchFamily="34" charset="0"/>
                <a:ea typeface="Calibri" pitchFamily="34" charset="-122"/>
                <a:cs typeface="Calibri" pitchFamily="34" charset="-120"/>
              </a:rPr>
              <a:t>Deform</a:t>
            </a:r>
            <a:endParaRPr lang="en-US" sz="4400" dirty="0"/>
          </a:p>
        </p:txBody>
      </p:sp>
      <p:sp>
        <p:nvSpPr>
          <p:cNvPr id="5" name="Text 2"/>
          <p:cNvSpPr txBox="1"/>
          <p:nvPr/>
        </p:nvSpPr>
        <p:spPr>
          <a:xfrm>
            <a:off x="2377440" y="2103120"/>
            <a:ext cx="6309360" cy="822960"/>
          </a:xfrm>
          <a:prstGeom prst="rect">
            <a:avLst/>
          </a:prstGeom>
          <a:noFill/>
          <a:ln/>
        </p:spPr>
        <p:txBody>
          <a:bodyPr wrap="square" lIns="0" tIns="0" rIns="0" bIns="0" rtlCol="0" anchor="t"/>
          <a:lstStyle/>
          <a:p>
            <a:pPr indent="0" marL="0">
              <a:buNone/>
            </a:pPr>
            <a:r>
              <a:rPr lang="en-US" sz="1600" dirty="0">
                <a:solidFill>
                  <a:srgbClr val="C9CED6"/>
                </a:solidFill>
                <a:latin typeface="Calibri" pitchFamily="34" charset="0"/>
                <a:ea typeface="Calibri" pitchFamily="34" charset="-122"/>
                <a:cs typeface="Calibri" pitchFamily="34" charset="-120"/>
              </a:rPr>
              <a:t>Bend a whole body, or selected faces, onto the profile with the same map -- a flat-modelled insert, core feature or tip protector.</a:t>
            </a:r>
            <a:endParaRPr lang="en-US" sz="1600" dirty="0"/>
          </a:p>
        </p:txBody>
      </p:sp>
      <p:sp>
        <p:nvSpPr>
          <p:cNvPr id="6" name="Text 3"/>
          <p:cNvSpPr txBox="1"/>
          <p:nvPr/>
        </p:nvSpPr>
        <p:spPr>
          <a:xfrm>
            <a:off x="457200" y="4320540"/>
            <a:ext cx="5486400" cy="274320"/>
          </a:xfrm>
          <a:prstGeom prst="rect">
            <a:avLst/>
          </a:prstGeom>
          <a:noFill/>
          <a:ln/>
        </p:spPr>
        <p:txBody>
          <a:bodyPr wrap="square" lIns="0" tIns="0" rIns="0" bIns="0" rtlCol="0" anchor="ctr"/>
          <a:lstStyle/>
          <a:p>
            <a:pPr indent="0" marL="0">
              <a:buNone/>
            </a:pPr>
            <a:r>
              <a:rPr lang="en-US" sz="1100" dirty="0">
                <a:solidFill>
                  <a:srgbClr val="9AA3AE"/>
                </a:solidFill>
                <a:latin typeface="Calibri" pitchFamily="34" charset="0"/>
                <a:ea typeface="Calibri" pitchFamily="34" charset="-122"/>
                <a:cs typeface="Calibri" pitchFamily="34" charset="-120"/>
              </a:rPr>
              <a:t>curveMapping_public  ·  Onshape custom feature</a:t>
            </a:r>
            <a:endParaRPr lang="en-US" sz="1100" dirty="0"/>
          </a:p>
        </p:txBody>
      </p:sp>
      <p:sp>
        <p:nvSpPr>
          <p:cNvPr id="7" name="Text 4"/>
          <p:cNvSpPr txBox="1"/>
          <p:nvPr/>
        </p:nvSpPr>
        <p:spPr>
          <a:xfrm>
            <a:off x="5943600" y="4320540"/>
            <a:ext cx="2743200" cy="274320"/>
          </a:xfrm>
          <a:prstGeom prst="rect">
            <a:avLst/>
          </a:prstGeom>
          <a:noFill/>
          <a:ln/>
        </p:spPr>
        <p:txBody>
          <a:bodyPr wrap="square" lIns="0" tIns="0" rIns="0" bIns="0" rtlCol="0" anchor="ctr"/>
          <a:lstStyle/>
          <a:p>
            <a:pPr algn="r" indent="0" marL="0">
              <a:buNone/>
            </a:pPr>
            <a:r>
              <a:rPr lang="en-US" sz="1100" dirty="0">
                <a:solidFill>
                  <a:srgbClr val="9AA3AE"/>
                </a:solidFill>
                <a:latin typeface="Calibri" pitchFamily="34" charset="0"/>
                <a:ea typeface="Calibri" pitchFamily="34" charset="-122"/>
                <a:cs typeface="Calibri" pitchFamily="34" charset="-120"/>
              </a:rPr>
              <a:t>Draft 2026-09-26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What it does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Deform  ·  curveMapping_public</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Text 4"/>
          <p:cNvSpPr txBox="1"/>
          <p:nvPr/>
        </p:nvSpPr>
        <p:spPr>
          <a:xfrm>
            <a:off x="457200" y="1005840"/>
            <a:ext cx="3749040" cy="1371600"/>
          </a:xfrm>
          <a:prstGeom prst="rect">
            <a:avLst/>
          </a:prstGeom>
          <a:noFill/>
          <a:ln/>
        </p:spPr>
        <p:txBody>
          <a:bodyPr wrap="square" lIns="0" tIns="0" rIns="0" bIns="0" rtlCol="0" anchor="t"/>
          <a:lstStyle/>
          <a:p>
            <a:pPr indent="0" marL="0">
              <a:buNone/>
            </a:pPr>
            <a:r>
              <a:rPr lang="en-US" sz="1400" dirty="0">
                <a:solidFill>
                  <a:srgbClr val="1F2329"/>
                </a:solidFill>
                <a:latin typeface="Calibri" pitchFamily="34" charset="0"/>
                <a:ea typeface="Calibri" pitchFamily="34" charset="-122"/>
                <a:cs typeface="Calibri" pitchFamily="34" charset="-120"/>
              </a:rPr>
              <a:t>Parts modelled flat must sit on the curved ski. Native Bend only flexes around an axis. Deform maps every vertex, edge and face through the bending map, so the part follows the profile exactly as a layer would.</a:t>
            </a:r>
            <a:endParaRPr lang="en-US" sz="1400" dirty="0"/>
          </a:p>
        </p:txBody>
      </p:sp>
      <p:sp>
        <p:nvSpPr>
          <p:cNvPr id="8" name="Text 5"/>
          <p:cNvSpPr txBox="1"/>
          <p:nvPr/>
        </p:nvSpPr>
        <p:spPr>
          <a:xfrm>
            <a:off x="457200" y="2468880"/>
            <a:ext cx="3749040" cy="274320"/>
          </a:xfrm>
          <a:prstGeom prst="rect">
            <a:avLst/>
          </a:prstGeom>
          <a:noFill/>
          <a:ln/>
        </p:spPr>
        <p:txBody>
          <a:bodyPr wrap="square" lIns="0" tIns="0" rIns="0" bIns="0" rtlCol="0" anchor="ctr"/>
          <a:lstStyle/>
          <a:p>
            <a:pPr indent="0" marL="0">
              <a:buNone/>
            </a:pPr>
            <a:r>
              <a:rPr lang="en-US" sz="1300" b="1" dirty="0">
                <a:solidFill>
                  <a:srgbClr val="1651B0"/>
                </a:solidFill>
                <a:latin typeface="Calibri" pitchFamily="34" charset="0"/>
                <a:ea typeface="Calibri" pitchFamily="34" charset="-122"/>
                <a:cs typeface="Calibri" pitchFamily="34" charset="-120"/>
              </a:rPr>
              <a:t>Use it when</a:t>
            </a:r>
            <a:endParaRPr lang="en-US" sz="1300" dirty="0"/>
          </a:p>
        </p:txBody>
      </p:sp>
      <p:sp>
        <p:nvSpPr>
          <p:cNvPr id="9" name="Text 6"/>
          <p:cNvSpPr txBox="1"/>
          <p:nvPr/>
        </p:nvSpPr>
        <p:spPr>
          <a:xfrm>
            <a:off x="457200" y="2761488"/>
            <a:ext cx="374904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An insert or protector modelled flat</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Features that must follow rocker / camber</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Faces rather than a whole body</a:t>
            </a:r>
            <a:endParaRPr lang="en-US" sz="1250" dirty="0"/>
          </a:p>
        </p:txBody>
      </p:sp>
      <p:pic>
        <p:nvPicPr>
          <p:cNvPr id="10" name="Image 1" descr="C:\Users\jed.yeiser\documents\featurescripts\docs\explainers\curve_mapping\img\fig04_deform.png">    </p:cNvPr>
          <p:cNvPicPr>
            <a:picLocks noChangeAspect="1"/>
          </p:cNvPicPr>
          <p:nvPr/>
        </p:nvPicPr>
        <p:blipFill>
          <a:blip r:embed="rId2"/>
          <a:stretch>
            <a:fillRect/>
          </a:stretch>
        </p:blipFill>
        <p:spPr>
          <a:xfrm>
            <a:off x="4480560" y="1009449"/>
            <a:ext cx="4206240" cy="3147461"/>
          </a:xfrm>
          <a:prstGeom prst="rect">
            <a:avLst/>
          </a:prstGeom>
        </p:spPr>
      </p:pic>
      <p:sp>
        <p:nvSpPr>
          <p:cNvPr id="11" name="Text 7"/>
          <p:cNvSpPr txBox="1"/>
          <p:nvPr/>
        </p:nvSpPr>
        <p:spPr>
          <a:xfrm>
            <a:off x="4480560" y="4224528"/>
            <a:ext cx="4206240" cy="365760"/>
          </a:xfrm>
          <a:prstGeom prst="rect">
            <a:avLst/>
          </a:prstGeom>
          <a:noFill/>
          <a:ln/>
        </p:spPr>
        <p:txBody>
          <a:bodyPr wrap="square" lIns="0" tIns="0" rIns="0" bIns="0"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A 100 x 5 block bent onto the tip: bottom 100, top 99.2 (concave side).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bending map</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Deform  ·  curveMapping_public</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pic>
        <p:nvPicPr>
          <p:cNvPr id="7" name="Image 1" descr="C:\Users\jed.yeiser\documents\featurescripts\docs\explainers\curve_mapping\img\fig01_bending_map.png">    </p:cNvPr>
          <p:cNvPicPr>
            <a:picLocks noChangeAspect="1"/>
          </p:cNvPicPr>
          <p:nvPr/>
        </p:nvPicPr>
        <p:blipFill>
          <a:blip r:embed="rId2"/>
          <a:stretch>
            <a:fillRect/>
          </a:stretch>
        </p:blipFill>
        <p:spPr>
          <a:xfrm>
            <a:off x="2752567" y="914400"/>
            <a:ext cx="3638866" cy="2514600"/>
          </a:xfrm>
          <a:prstGeom prst="rect">
            <a:avLst/>
          </a:prstGeom>
        </p:spPr>
      </p:pic>
      <p:sp>
        <p:nvSpPr>
          <p:cNvPr id="8" name="Shape 4"/>
          <p:cNvSpPr/>
          <p:nvPr/>
        </p:nvSpPr>
        <p:spPr>
          <a:xfrm>
            <a:off x="457200" y="3566160"/>
            <a:ext cx="2590800" cy="914400"/>
          </a:xfrm>
          <a:prstGeom prst="roundRect">
            <a:avLst>
              <a:gd name="adj" fmla="val 6000"/>
            </a:avLst>
          </a:prstGeom>
          <a:solidFill>
            <a:srgbClr val="F3F5F8"/>
          </a:solidFill>
          <a:ln w="12700">
            <a:solidFill>
              <a:srgbClr val="F3F5F8"/>
            </a:solidFill>
            <a:prstDash val="solid"/>
          </a:ln>
        </p:spPr>
      </p:sp>
      <p:sp>
        <p:nvSpPr>
          <p:cNvPr id="9" name="Text 5"/>
          <p:cNvSpPr txBox="1"/>
          <p:nvPr/>
        </p:nvSpPr>
        <p:spPr>
          <a:xfrm>
            <a:off x="5669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Arc length kept</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A point s along the From reference lands s along the To reference (a shift, no scaling).</a:t>
            </a:r>
            <a:endParaRPr lang="en-US" sz="1100" dirty="0"/>
          </a:p>
        </p:txBody>
      </p:sp>
      <p:sp>
        <p:nvSpPr>
          <p:cNvPr id="10" name="Shape 6"/>
          <p:cNvSpPr/>
          <p:nvPr/>
        </p:nvSpPr>
        <p:spPr>
          <a:xfrm>
            <a:off x="3276600" y="3566160"/>
            <a:ext cx="2590800" cy="914400"/>
          </a:xfrm>
          <a:prstGeom prst="roundRect">
            <a:avLst>
              <a:gd name="adj" fmla="val 6000"/>
            </a:avLst>
          </a:prstGeom>
          <a:solidFill>
            <a:srgbClr val="F3F5F8"/>
          </a:solidFill>
          <a:ln w="12700">
            <a:solidFill>
              <a:srgbClr val="F3F5F8"/>
            </a:solidFill>
            <a:prstDash val="solid"/>
          </a:ln>
        </p:spPr>
      </p:sp>
      <p:sp>
        <p:nvSpPr>
          <p:cNvPr id="11" name="Text 7"/>
          <p:cNvSpPr txBox="1"/>
          <p:nvPr/>
        </p:nvSpPr>
        <p:spPr>
          <a:xfrm>
            <a:off x="33863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Height and width kept</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The point's offsets in the frame carry over: ribs stay perpendicular.</a:t>
            </a:r>
            <a:endParaRPr lang="en-US" sz="1100" dirty="0"/>
          </a:p>
        </p:txBody>
      </p:sp>
      <p:sp>
        <p:nvSpPr>
          <p:cNvPr id="12" name="Shape 8"/>
          <p:cNvSpPr/>
          <p:nvPr/>
        </p:nvSpPr>
        <p:spPr>
          <a:xfrm>
            <a:off x="6096000" y="3566160"/>
            <a:ext cx="2590800" cy="914400"/>
          </a:xfrm>
          <a:prstGeom prst="roundRect">
            <a:avLst>
              <a:gd name="adj" fmla="val 6000"/>
            </a:avLst>
          </a:prstGeom>
          <a:solidFill>
            <a:srgbClr val="F3F5F8"/>
          </a:solidFill>
          <a:ln w="12700">
            <a:solidFill>
              <a:srgbClr val="F3F5F8"/>
            </a:solidFill>
            <a:prstDash val="solid"/>
          </a:ln>
        </p:spPr>
      </p:sp>
      <p:sp>
        <p:nvSpPr>
          <p:cNvPr id="13" name="Text 9"/>
          <p:cNvSpPr txBox="1"/>
          <p:nvPr/>
        </p:nvSpPr>
        <p:spPr>
          <a:xfrm>
            <a:off x="62057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Layers bend</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At height h around radius R they stretch or shrink by (R - h) / R, as a real layer does.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Deform  ·  curveMapping_public</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Shape 4"/>
          <p:cNvSpPr/>
          <p:nvPr/>
        </p:nvSpPr>
        <p:spPr>
          <a:xfrm>
            <a:off x="777240" y="914400"/>
            <a:ext cx="2743200" cy="3611880"/>
          </a:xfrm>
          <a:prstGeom prst="rect">
            <a:avLst/>
          </a:prstGeom>
          <a:solidFill>
            <a:srgbClr val="F3F5F8"/>
          </a:solidFill>
          <a:ln w="12700">
            <a:solidFill>
              <a:srgbClr val="8A8883"/>
            </a:solidFill>
            <a:prstDash val="dash"/>
          </a:ln>
        </p:spPr>
      </p:sp>
      <p:sp>
        <p:nvSpPr>
          <p:cNvPr id="8" name="Text 5"/>
          <p:cNvSpPr txBox="1"/>
          <p:nvPr/>
        </p:nvSpPr>
        <p:spPr>
          <a:xfrm>
            <a:off x="777240" y="914400"/>
            <a:ext cx="2743200" cy="3611880"/>
          </a:xfrm>
          <a:prstGeom prst="rect">
            <a:avLst/>
          </a:prstGeom>
          <a:noFill/>
          <a:ln/>
        </p:spPr>
        <p:txBody>
          <a:bodyPr wrap="square" lIns="76200" tIns="76200" rIns="76200" bIns="76200" rtlCol="0" anchor="ctr"/>
          <a:lstStyle/>
          <a:p>
            <a:pPr algn="ctr" indent="0" marL="0">
              <a:buNone/>
            </a:pPr>
            <a:r>
              <a:rPr lang="en-US" sz="1100" dirty="0">
                <a:solidFill>
                  <a:srgbClr val="8A8883"/>
                </a:solidFill>
                <a:latin typeface="Calibri" pitchFamily="34" charset="0"/>
                <a:ea typeface="Calibri" pitchFamily="34" charset="-122"/>
                <a:cs typeface="Calibri" pitchFamily="34" charset="-120"/>
              </a:rPr>
              <a:t>IMAGE MISSING: docs/decks/deform/shots/dialog.png</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Mode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Bodies (one solid or sheet) / Faces.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From data</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From edge(s) (G1 chain) and From reference (vertex, mate connector, plane).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To data</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To edge(s), Flip (reverse To), To reference, Flip normal.</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Frame orientation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Frenet (default) / Binormal (face, mate connector or world axis).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Setup</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Sampling, degree, max control points, tolerance; Use face guide points; Keep wires.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Debug</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Create wires / faces / bodies stages; show frames.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Outputs and messages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Deform  ·  curveMapping_public</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Text 4"/>
          <p:cNvSpPr txBox="1"/>
          <p:nvPr/>
        </p:nvSpPr>
        <p:spPr>
          <a:xfrm>
            <a:off x="457200" y="896112"/>
            <a:ext cx="388620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Outputs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886200" cy="914400"/>
        </p:xfrm>
        <a:graphic>
          <a:graphicData uri="http://schemas.openxmlformats.org/drawingml/2006/table">
            <a:tbl>
              <a:tblPr/>
              <a:tblGrid>
                <a:gridCol w="1399032"/>
                <a:gridCol w="2487168"/>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holds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(body)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A new body (the source stays); solids closed into solids.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
        <p:nvSpPr>
          <p:cNvPr id="9" name="Text 5"/>
          <p:cNvSpPr txBox="1"/>
          <p:nvPr/>
        </p:nvSpPr>
        <p:spPr>
          <a:xfrm>
            <a:off x="4617720" y="896112"/>
            <a:ext cx="406908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Messages</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617720" y="1188720"/>
          <a:ext cx="4069080" cy="914400"/>
        </p:xfrm>
        <a:graphic>
          <a:graphicData uri="http://schemas.openxmlformats.org/drawingml/2006/table">
            <a:tbl>
              <a:tblPr/>
              <a:tblGrid>
                <a:gridCol w="813816"/>
                <a:gridCol w="3255264"/>
              </a:tblGrid>
              <a:tr h="0">
                <a:tc>
                  <a:txBody>
                    <a:bodyPr/>
                    <a:lstStyle/>
                    <a:p>
                      <a:pPr indent="0" marL="0">
                        <a:buNone/>
                      </a:pP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 / what to do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BAF7A"/>
                          </a:solidFill>
                          <a:latin typeface="Calibri" pitchFamily="34" charset="0"/>
                          <a:ea typeface="Calibri" pitchFamily="34" charset="-122"/>
                          <a:cs typeface="Calibri" pitchFamily="34" charset="-120"/>
                        </a:rPr>
                        <a:t>Console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per-face WARNING / ERROR, OPEN END reports</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Check for a missing face or a sheet instead of a solid.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Tips and limits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Deform  ·  curveMapping_public</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sp>
        <p:nvSpPr>
          <p:cNvPr id="7" name="Shape 4"/>
          <p:cNvSpPr/>
          <p:nvPr/>
        </p:nvSpPr>
        <p:spPr>
          <a:xfrm>
            <a:off x="457200" y="960120"/>
            <a:ext cx="274320" cy="274320"/>
          </a:xfrm>
          <a:prstGeom prst="ellipse">
            <a:avLst/>
          </a:prstGeom>
          <a:solidFill>
            <a:srgbClr val="C9820A"/>
          </a:solidFill>
          <a:ln w="12700">
            <a:solidFill>
              <a:srgbClr val="C9820A"/>
            </a:solidFill>
            <a:prstDash val="solid"/>
          </a:ln>
        </p:spPr>
      </p:sp>
      <p:sp>
        <p:nvSpPr>
          <p:cNvPr id="8" name="Text 5"/>
          <p:cNvSpPr txBox="1"/>
          <p:nvPr/>
        </p:nvSpPr>
        <p:spPr>
          <a:xfrm>
            <a:off x="457200" y="9601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txBox="1"/>
          <p:nvPr/>
        </p:nvSpPr>
        <p:spPr>
          <a:xfrm>
            <a:off x="841248" y="91440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Every face is a fill</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Planes and cylinders are not kept as such; inner loops may fail.</a:t>
            </a:r>
            <a:endParaRPr lang="en-US" sz="1100" dirty="0"/>
          </a:p>
        </p:txBody>
      </p:sp>
      <p:sp>
        <p:nvSpPr>
          <p:cNvPr id="10" name="Shape 7"/>
          <p:cNvSpPr/>
          <p:nvPr/>
        </p:nvSpPr>
        <p:spPr>
          <a:xfrm>
            <a:off x="457200" y="2011680"/>
            <a:ext cx="274320" cy="274320"/>
          </a:xfrm>
          <a:prstGeom prst="ellipse">
            <a:avLst/>
          </a:prstGeom>
          <a:solidFill>
            <a:srgbClr val="1BAF7A"/>
          </a:solidFill>
          <a:ln w="12700">
            <a:solidFill>
              <a:srgbClr val="1BAF7A"/>
            </a:solidFill>
            <a:prstDash val="solid"/>
          </a:ln>
        </p:spPr>
      </p:sp>
      <p:sp>
        <p:nvSpPr>
          <p:cNvPr id="11" name="Text 8"/>
          <p:cNvSpPr txBox="1"/>
          <p:nvPr/>
        </p:nvSpPr>
        <p:spPr>
          <a:xfrm>
            <a:off x="45720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41248" y="196596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Guide points</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Turn on Use face guide points when fills do not follow the face.</a:t>
            </a:r>
            <a:endParaRPr lang="en-US" sz="1100" dirty="0"/>
          </a:p>
        </p:txBody>
      </p:sp>
      <p:sp>
        <p:nvSpPr>
          <p:cNvPr id="13" name="Shape 10"/>
          <p:cNvSpPr/>
          <p:nvPr/>
        </p:nvSpPr>
        <p:spPr>
          <a:xfrm>
            <a:off x="457200" y="3063240"/>
            <a:ext cx="274320" cy="274320"/>
          </a:xfrm>
          <a:prstGeom prst="ellipse">
            <a:avLst/>
          </a:prstGeom>
          <a:solidFill>
            <a:srgbClr val="C9820A"/>
          </a:solidFill>
          <a:ln w="12700">
            <a:solidFill>
              <a:srgbClr val="C9820A"/>
            </a:solidFill>
            <a:prstDash val="solid"/>
          </a:ln>
        </p:spPr>
      </p:sp>
      <p:sp>
        <p:nvSpPr>
          <p:cNvPr id="14" name="Text 11"/>
          <p:cNvSpPr txBox="1"/>
          <p:nvPr/>
        </p:nvSpPr>
        <p:spPr>
          <a:xfrm>
            <a:off x="457200" y="30632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2"/>
          <p:cNvSpPr txBox="1"/>
          <p:nvPr/>
        </p:nvSpPr>
        <p:spPr>
          <a:xfrm>
            <a:off x="841248" y="301752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Heavy</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The slowest of the family: many edges, many projections.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Where it lives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Deform  ·  curveMapping_public</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2026-09-26</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011680"/>
                <a:gridCol w="6217920"/>
              </a:tblGrid>
              <a:tr h="0">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Document</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curveMapping_public (d12583277c42b00c63a9b7b7)</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Tab</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deform (+ engine curveMappingCore)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Explainer</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docs/explainers/curve_mapping/curve_mapping_explained.md, section 2.3</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Related</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Wrap Curve, Wrap and Loft, Deform, Measure curve distance, Offset edges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Deform</dc:title>
  <dc:subject>PptxGenJS Presentation</dc:subject>
  <dc:creator>FeatureScript docs</dc:creator>
  <cp:lastModifiedBy>FeatureScript docs</cp:lastModifiedBy>
  <cp:revision>1</cp:revision>
  <dcterms:created xsi:type="dcterms:W3CDTF">2026-09-26T19:37:20Z</dcterms:created>
  <dcterms:modified xsi:type="dcterms:W3CDTF">2026-09-26T19:37:20Z</dcterms:modified>
</cp:coreProperties>
</file>