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226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234440"/>
            <a:ext cx="1554480" cy="1554480"/>
          </a:xfrm>
          <a:prstGeom prst="roundRect">
            <a:avLst>
              <a:gd name="adj" fmla="val 1058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463040"/>
            <a:ext cx="1097280" cy="10972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2377440" y="1188720"/>
            <a:ext cx="6309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Split+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2377440" y="2103120"/>
            <a:ext cx="6309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parts, surfaces, curves or faces with several tools. Optionally supply reference geometry from which we can establish a more stable definition of which side of the geometry to split we intend to keep or remove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43205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Reference_Side_Features  ·  Onshape custom feature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5943600" y="43205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2026-09-25 (review 1 applied)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475488" cy="475488"/>
          </a:xfrm>
          <a:prstGeom prst="roundRect">
            <a:avLst>
              <a:gd name="adj" fmla="val 15385"/>
            </a:avLst>
          </a:prstGeom>
          <a:solidFill>
            <a:srgbClr val="F3F5F8"/>
          </a:solidFill>
          <a:ln w="9525">
            <a:solidFill>
              <a:srgbClr val="D9D6C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365760"/>
            <a:ext cx="329184" cy="32918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78992" y="256032"/>
            <a:ext cx="7607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3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does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47960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8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Split+  ·  Reference_Side_Features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5943600" y="47960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8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2026-09-25 (review 1 applied)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1005840"/>
            <a:ext cx="3749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3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built-in Split keeps "front" or "back" of one tool. That choice is tied to the tool's normal, which flips whenever an upstream loft, offset, mirror or sketch changes. Split+ splits by many tools at once and names the side to keep with geometry: a reference that lies on that side.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246888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51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it when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2761488"/>
            <a:ext cx="3749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3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body must be cut by several planes or surfaces in one step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3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keep one side, and the tools' normals may change upstream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3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Later features need the pieces by position: start, middle, end</a:t>
            </a:r>
            <a:endParaRPr lang="en-US" sz="1250" dirty="0"/>
          </a:p>
        </p:txBody>
      </p:sp>
      <p:pic>
        <p:nvPicPr>
          <p:cNvPr id="10" name="Image 1" descr="C:\Users\jed.yeiser\documents\featurescripts\docs\decks\split_plus\shots\her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50191" y="960120"/>
            <a:ext cx="4066978" cy="32461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480560" y="422452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Split+ open on a ski topsheet: the target and the two tools (Station A and B) highlight.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475488" cy="475488"/>
          </a:xfrm>
          <a:prstGeom prst="roundRect">
            <a:avLst>
              <a:gd name="adj" fmla="val 15385"/>
            </a:avLst>
          </a:prstGeom>
          <a:solidFill>
            <a:srgbClr val="F3F5F8"/>
          </a:solidFill>
          <a:ln w="9525">
            <a:solidFill>
              <a:srgbClr val="D9D6C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365760"/>
            <a:ext cx="329184" cy="32918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78992" y="256032"/>
            <a:ext cx="7607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3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 reference instead of a flip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47960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8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Split+  ·  Reference_Side_Features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5943600" y="47960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8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2026-09-25 (review 1 applied)</a:t>
            </a:r>
            <a:endParaRPr lang="en-US" sz="900" dirty="0"/>
          </a:p>
        </p:txBody>
      </p:sp>
      <p:pic>
        <p:nvPicPr>
          <p:cNvPr id="7" name="Image 1" descr="C:\Users\jed.yeiser\documents\featurescripts\docs\explainers\reference_side\img\fig01_flip_vs_referen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79130"/>
            <a:ext cx="8229600" cy="238514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457200" y="3566160"/>
            <a:ext cx="2590800" cy="91440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66928" y="3621024"/>
            <a:ext cx="237134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651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flip is about a normal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3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'Keep front' means the side the tool's normal points to -- and normals change freely upstream.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76600" y="3566160"/>
            <a:ext cx="2590800" cy="91440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3386328" y="3621024"/>
            <a:ext cx="237134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651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reference is about the model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3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geometry on the side you mean. The choice survives any change of orientation.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6096000" y="3566160"/>
            <a:ext cx="2590800" cy="91440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205728" y="3621024"/>
            <a:ext cx="237134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651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Drop-in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3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no reference, Split+ behaves exactly like the built-in Split.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475488" cy="475488"/>
          </a:xfrm>
          <a:prstGeom prst="roundRect">
            <a:avLst>
              <a:gd name="adj" fmla="val 15385"/>
            </a:avLst>
          </a:prstGeom>
          <a:solidFill>
            <a:srgbClr val="F3F5F8"/>
          </a:solidFill>
          <a:ln w="9525">
            <a:solidFill>
              <a:srgbClr val="D9D6C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365760"/>
            <a:ext cx="329184" cy="32918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78992" y="256032"/>
            <a:ext cx="7607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3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side is decided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47960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8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Split+  ·  Reference_Side_Features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5943600" y="47960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8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2026-09-25 (review 1 applied)</a:t>
            </a:r>
            <a:endParaRPr lang="en-US" sz="900" dirty="0"/>
          </a:p>
        </p:txBody>
      </p:sp>
      <p:pic>
        <p:nvPicPr>
          <p:cNvPr id="7" name="Image 1" descr="C:\Users\jed.yeiser\documents\featurescripts\docs\explainers\reference_side\img\fig02_signed_distan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7450" y="914400"/>
            <a:ext cx="6709100" cy="25146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457200" y="3566160"/>
            <a:ext cx="2590800" cy="91440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66928" y="3621024"/>
            <a:ext cx="237134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651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distance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3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each tool: s = (P - C) . n at the closest point. s &gt; 0: the reference is in front of the tool.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76600" y="3566160"/>
            <a:ext cx="2590800" cy="91440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3386328" y="3621024"/>
            <a:ext cx="237134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651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tool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3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tool keeps the reference's side (box on) or the other side (box off). What survives is on the reference's side of every tool.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6096000" y="3566160"/>
            <a:ext cx="2590800" cy="91440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205728" y="3621024"/>
            <a:ext cx="237134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651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reference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3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Behaves like the built-in: on = each tool's front, off = its back.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475488" cy="475488"/>
          </a:xfrm>
          <a:prstGeom prst="roundRect">
            <a:avLst>
              <a:gd name="adj" fmla="val 15385"/>
            </a:avLst>
          </a:prstGeom>
          <a:solidFill>
            <a:srgbClr val="F3F5F8"/>
          </a:solidFill>
          <a:ln w="9525">
            <a:solidFill>
              <a:srgbClr val="D9D6C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365760"/>
            <a:ext cx="329184" cy="32918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78992" y="256032"/>
            <a:ext cx="7607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3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Regions are named by position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47960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8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Split+  ·  Reference_Side_Features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5943600" y="47960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8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2026-09-25 (review 1 applied)</a:t>
            </a:r>
            <a:endParaRPr lang="en-US" sz="900" dirty="0"/>
          </a:p>
        </p:txBody>
      </p:sp>
      <p:pic>
        <p:nvPicPr>
          <p:cNvPr id="7" name="Image 1" descr="C:\Users\jed.yeiser\documents\featurescripts\docs\explainers\reference_side\img\fig03_split_regio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856" y="914400"/>
            <a:ext cx="7670289" cy="25146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457200" y="3566160"/>
            <a:ext cx="2590800" cy="91440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66928" y="3621024"/>
            <a:ext cx="237134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651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tools in order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3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tool: near / far (or front / back). 2 tools: start, middle, end. 3+: start, middle1..N-1, end.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76600" y="3566160"/>
            <a:ext cx="2590800" cy="91440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3386328" y="3621024"/>
            <a:ext cx="237134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651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Orientation never matters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3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'Forward' for each tool is the side the next tool is on.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6096000" y="3566160"/>
            <a:ext cx="2590800" cy="91440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205728" y="3621024"/>
            <a:ext cx="237134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651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Crossing tools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3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split is made as asked; region keys are published empty, with an info notice.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475488" cy="475488"/>
          </a:xfrm>
          <a:prstGeom prst="roundRect">
            <a:avLst>
              <a:gd name="adj" fmla="val 15385"/>
            </a:avLst>
          </a:prstGeom>
          <a:solidFill>
            <a:srgbClr val="F3F5F8"/>
          </a:solidFill>
          <a:ln w="9525">
            <a:solidFill>
              <a:srgbClr val="D9D6C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365760"/>
            <a:ext cx="329184" cy="32918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78992" y="256032"/>
            <a:ext cx="7607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3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dialog: split, keep both sides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47960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8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Split+  ·  Reference_Side_Features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5943600" y="47960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8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2026-09-25 (review 1 applied)</a:t>
            </a:r>
            <a:endParaRPr lang="en-US" sz="900" dirty="0"/>
          </a:p>
        </p:txBody>
      </p:sp>
      <p:pic>
        <p:nvPicPr>
          <p:cNvPr id="7" name="Image 1" descr="C:\Users\jed.yeiser\documents\featurescripts\docs\decks\split_plus\shots\dialog_bot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914400"/>
            <a:ext cx="2498785" cy="361188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777240" y="914400"/>
            <a:ext cx="2498785" cy="3611880"/>
          </a:xfrm>
          <a:prstGeom prst="rect">
            <a:avLst/>
          </a:prstGeom>
          <a:ln w="9525">
            <a:solidFill>
              <a:srgbClr val="D9D6CF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475488" y="1267029"/>
            <a:ext cx="237744" cy="237744"/>
          </a:xfrm>
          <a:prstGeom prst="ellipse">
            <a:avLst/>
          </a:prstGeom>
          <a:solidFill>
            <a:srgbClr val="1651B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475488" y="1267029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475488" y="1614286"/>
            <a:ext cx="237744" cy="237744"/>
          </a:xfrm>
          <a:prstGeom prst="ellipse">
            <a:avLst/>
          </a:prstGeom>
          <a:solidFill>
            <a:srgbClr val="1651B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475488" y="161428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475488" y="2152002"/>
            <a:ext cx="237744" cy="237744"/>
          </a:xfrm>
          <a:prstGeom prst="ellipse">
            <a:avLst/>
          </a:prstGeom>
          <a:solidFill>
            <a:srgbClr val="1651B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475488" y="215200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475488" y="3003202"/>
            <a:ext cx="237744" cy="237744"/>
          </a:xfrm>
          <a:prstGeom prst="ellipse">
            <a:avLst/>
          </a:prstGeom>
          <a:solidFill>
            <a:srgbClr val="1651B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75488" y="300320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475488" y="3313512"/>
            <a:ext cx="237744" cy="237744"/>
          </a:xfrm>
          <a:prstGeom prst="ellipse">
            <a:avLst/>
          </a:prstGeom>
          <a:solidFill>
            <a:srgbClr val="1651B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475488" y="331351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19" name="Shape 15"/>
          <p:cNvSpPr/>
          <p:nvPr/>
        </p:nvSpPr>
        <p:spPr>
          <a:xfrm>
            <a:off x="475488" y="3623822"/>
            <a:ext cx="237744" cy="237744"/>
          </a:xfrm>
          <a:prstGeom prst="ellipse">
            <a:avLst/>
          </a:prstGeom>
          <a:solidFill>
            <a:srgbClr val="1651B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475488" y="362382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21" name="Shape 17"/>
          <p:cNvSpPr/>
          <p:nvPr/>
        </p:nvSpPr>
        <p:spPr>
          <a:xfrm>
            <a:off x="475488" y="3934132"/>
            <a:ext cx="237744" cy="237744"/>
          </a:xfrm>
          <a:prstGeom prst="ellipse">
            <a:avLst/>
          </a:prstGeom>
          <a:solidFill>
            <a:srgbClr val="1651B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475488" y="393413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0" y="914400"/>
          <a:ext cx="4846320" cy="914400"/>
        </p:xfrm>
        <a:graphic>
          <a:graphicData uri="http://schemas.openxmlformats.org/drawingml/2006/table">
            <a:tbl>
              <a:tblPr/>
              <a:tblGrid>
                <a:gridCol w="320040"/>
                <a:gridCol w="1453896"/>
                <a:gridCol w="307238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Parameter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means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2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51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Split type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PART: split whole bodies. FACE: split only the picked faces; nothing is removed.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51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Parts, surfaces, or curves to split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targets. Every target is split by every tool.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51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Entities to split with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Surfaces, faces, planes or mate connectors, in pick order. Pick them in order along the part: region names follow it.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51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Keep tools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Keep sheet-body tools after the split.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51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 to face boundaries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single-face tool cuts only within its own boundary, as the built-in.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51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Keep both sides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 (default): every piece is kept and sorted into regions. Off: keep one side per tool (next slide).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51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Debug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Print sides: which side of each tool the reference is on, and what was kept.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475488" cy="475488"/>
          </a:xfrm>
          <a:prstGeom prst="roundRect">
            <a:avLst>
              <a:gd name="adj" fmla="val 15385"/>
            </a:avLst>
          </a:prstGeom>
          <a:solidFill>
            <a:srgbClr val="F3F5F8"/>
          </a:solidFill>
          <a:ln w="9525">
            <a:solidFill>
              <a:srgbClr val="D9D6C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365760"/>
            <a:ext cx="329184" cy="32918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78992" y="256032"/>
            <a:ext cx="7607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3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dialog: keep one side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47960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8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Split+  ·  Reference_Side_Features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5943600" y="47960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8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2026-09-25 (review 1 applied)</a:t>
            </a:r>
            <a:endParaRPr lang="en-US" sz="900" dirty="0"/>
          </a:p>
        </p:txBody>
      </p:sp>
      <p:pic>
        <p:nvPicPr>
          <p:cNvPr id="7" name="Image 1" descr="C:\Users\jed.yeiser\documents\featurescripts\docs\decks\split_plus\shots\dialog_one_sid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914400"/>
            <a:ext cx="2141816" cy="361188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777240" y="914400"/>
            <a:ext cx="2141816" cy="3611880"/>
          </a:xfrm>
          <a:prstGeom prst="rect">
            <a:avLst/>
          </a:prstGeom>
          <a:ln w="9525">
            <a:solidFill>
              <a:srgbClr val="D9D6CF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475488" y="3224077"/>
            <a:ext cx="237744" cy="237744"/>
          </a:xfrm>
          <a:prstGeom prst="ellipse">
            <a:avLst/>
          </a:prstGeom>
          <a:solidFill>
            <a:srgbClr val="1651B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475488" y="3224077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475488" y="3504267"/>
            <a:ext cx="237744" cy="237744"/>
          </a:xfrm>
          <a:prstGeom prst="ellipse">
            <a:avLst/>
          </a:prstGeom>
          <a:solidFill>
            <a:srgbClr val="1651B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475488" y="3504267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2983064" y="3612794"/>
            <a:ext cx="237744" cy="237744"/>
          </a:xfrm>
          <a:prstGeom prst="ellipse">
            <a:avLst/>
          </a:prstGeom>
          <a:solidFill>
            <a:srgbClr val="1651B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2983064" y="361279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0" y="914400"/>
          <a:ext cx="4846320" cy="914400"/>
        </p:xfrm>
        <a:graphic>
          <a:graphicData uri="http://schemas.openxmlformats.org/drawingml/2006/table">
            <a:tbl>
              <a:tblPr/>
              <a:tblGrid>
                <a:gridCol w="320040"/>
                <a:gridCol w="1453896"/>
                <a:gridCol w="307238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Parameter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means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2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51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Keep both sides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Off: each tool keeps one side.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51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Side reference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Geometry on the side to keep -- best a mate connector or vertex inside the region you want. Here: Mid (x 900).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51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Keep side nearest reference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arrow. On: keep the side of each tool the reference is on. Off: keep the other side. Without a reference: each tool's front / back.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16" name="Text 11"/>
          <p:cNvSpPr txBox="1"/>
          <p:nvPr/>
        </p:nvSpPr>
        <p:spPr>
          <a:xfrm>
            <a:off x="3840480" y="416052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only the region between Station A and B survives, whatever way the two planes face (example 2).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475488" cy="475488"/>
          </a:xfrm>
          <a:prstGeom prst="roundRect">
            <a:avLst>
              <a:gd name="adj" fmla="val 15385"/>
            </a:avLst>
          </a:prstGeom>
          <a:solidFill>
            <a:srgbClr val="F3F5F8"/>
          </a:solidFill>
          <a:ln w="9525">
            <a:solidFill>
              <a:srgbClr val="D9D6C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365760"/>
            <a:ext cx="329184" cy="32918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78992" y="256032"/>
            <a:ext cx="7607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3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dialog: face split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47960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8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Split+  ·  Reference_Side_Features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5943600" y="47960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8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2026-09-25 (review 1 applied)</a:t>
            </a:r>
            <a:endParaRPr lang="en-US" sz="900" dirty="0"/>
          </a:p>
        </p:txBody>
      </p:sp>
      <p:pic>
        <p:nvPicPr>
          <p:cNvPr id="7" name="Image 1" descr="C:\Users\jed.yeiser\documents\featurescripts\docs\decks\split_plus\shots\dialog_fa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914400"/>
            <a:ext cx="2675467" cy="361188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777240" y="914400"/>
            <a:ext cx="2675467" cy="3611880"/>
          </a:xfrm>
          <a:prstGeom prst="rect">
            <a:avLst/>
          </a:prstGeom>
          <a:ln w="9525">
            <a:solidFill>
              <a:srgbClr val="D9D6CF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475488" y="1301576"/>
            <a:ext cx="237744" cy="237744"/>
          </a:xfrm>
          <a:prstGeom prst="ellipse">
            <a:avLst/>
          </a:prstGeom>
          <a:solidFill>
            <a:srgbClr val="1651B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475488" y="130157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475488" y="1674277"/>
            <a:ext cx="237744" cy="237744"/>
          </a:xfrm>
          <a:prstGeom prst="ellipse">
            <a:avLst/>
          </a:prstGeom>
          <a:solidFill>
            <a:srgbClr val="1651B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475488" y="1674277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475488" y="3552976"/>
            <a:ext cx="237744" cy="237744"/>
          </a:xfrm>
          <a:prstGeom prst="ellipse">
            <a:avLst/>
          </a:prstGeom>
          <a:solidFill>
            <a:srgbClr val="1651B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475488" y="355297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0" y="914400"/>
          <a:ext cx="4846320" cy="914400"/>
        </p:xfrm>
        <a:graphic>
          <a:graphicData uri="http://schemas.openxmlformats.org/drawingml/2006/table">
            <a:tbl>
              <a:tblPr/>
              <a:tblGrid>
                <a:gridCol w="320040"/>
                <a:gridCol w="1453896"/>
                <a:gridCol w="307238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Parameter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means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2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51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Split type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FACE: split only the picked faces. Nothing is removed; the pieces stay part of their body.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51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Faces to split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faces to split. Planes and mate connectors cut them infinitely; surfaces cut as they are.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51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Side reference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Optional. With one tool it names the two regions near / far; it never removes anything here.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16" name="Text 11"/>
          <p:cNvSpPr txBox="1"/>
          <p:nvPr/>
        </p:nvSpPr>
        <p:spPr>
          <a:xfrm>
            <a:off x="3840480" y="416052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Regions are published as faces: pick 'middle' in Extract variables to fillet or offset only those faces.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475488" cy="475488"/>
          </a:xfrm>
          <a:prstGeom prst="roundRect">
            <a:avLst>
              <a:gd name="adj" fmla="val 15385"/>
            </a:avLst>
          </a:prstGeom>
          <a:solidFill>
            <a:srgbClr val="F3F5F8"/>
          </a:solidFill>
          <a:ln w="9525">
            <a:solidFill>
              <a:srgbClr val="D9D6C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365760"/>
            <a:ext cx="329184" cy="32918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78992" y="256032"/>
            <a:ext cx="7607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3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1: three regions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47960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8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Split+  ·  Reference_Side_Features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5943600" y="47960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8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2026-09-25 (review 1 applied)</a:t>
            </a:r>
            <a:endParaRPr lang="en-US" sz="900" dirty="0"/>
          </a:p>
        </p:txBody>
      </p:sp>
      <p:pic>
        <p:nvPicPr>
          <p:cNvPr id="7" name="Image 1" descr="C:\Users\jed.yeiser\documents\featurescripts\docs\decks\split_plus\shots\regions_pla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32861"/>
            <a:ext cx="8229600" cy="1677679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457200" y="352044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3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Topsheet split at Station A (x 300) and B (x 1500), Keep both sides on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is removed. The three pieces are published as start (x -19..300), middle (300..1500) and end (1500..1799), and the cut edges as splitEdges -- one edge per cut: 9 edges, 5 at A and 4 at B.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475488" cy="475488"/>
          </a:xfrm>
          <a:prstGeom prst="roundRect">
            <a:avLst>
              <a:gd name="adj" fmla="val 15385"/>
            </a:avLst>
          </a:prstGeom>
          <a:solidFill>
            <a:srgbClr val="F3F5F8"/>
          </a:solidFill>
          <a:ln w="9525">
            <a:solidFill>
              <a:srgbClr val="D9D6C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365760"/>
            <a:ext cx="329184" cy="32918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78992" y="256032"/>
            <a:ext cx="7607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3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2: keep only the middle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47960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8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Split+  ·  Reference_Side_Features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5943600" y="47960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8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2026-09-25 (review 1 applied)</a:t>
            </a:r>
            <a:endParaRPr lang="en-US" sz="900" dirty="0"/>
          </a:p>
        </p:txBody>
      </p:sp>
      <p:pic>
        <p:nvPicPr>
          <p:cNvPr id="7" name="Image 1" descr="C:\Users\jed.yeiser\documents\featurescripts\docs\decks\split_plus\shots\volume_pla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81878"/>
            <a:ext cx="8229600" cy="237964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457200" y="352044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3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VOLUME_STD split at Station A and B, Keep both sides off, Side reference = Mid (x 900)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station plane keeps the side Mid is on, so only the part between A and B survives (green); the tip and tail pieces (grey) are removed. Flipping either plane's normal changes nothing -- which the built-in 'keep front / back' cannot promise.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475488" cy="475488"/>
          </a:xfrm>
          <a:prstGeom prst="roundRect">
            <a:avLst>
              <a:gd name="adj" fmla="val 15385"/>
            </a:avLst>
          </a:prstGeom>
          <a:solidFill>
            <a:srgbClr val="F3F5F8"/>
          </a:solidFill>
          <a:ln w="9525">
            <a:solidFill>
              <a:srgbClr val="D9D6C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365760"/>
            <a:ext cx="329184" cy="32918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78992" y="256032"/>
            <a:ext cx="7607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3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3: split faces, not bodies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47960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8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Split+  ·  Reference_Side_Features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5943600" y="47960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8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2026-09-25 (review 1 applied)</a:t>
            </a:r>
            <a:endParaRPr lang="en-US" sz="900" dirty="0"/>
          </a:p>
        </p:txBody>
      </p:sp>
      <p:pic>
        <p:nvPicPr>
          <p:cNvPr id="7" name="Image 1" descr="C:\Users\jed.yeiser\documents\featurescripts\docs\decks\split_plus\shots\faces_pla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988" y="914400"/>
            <a:ext cx="8134024" cy="25146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457200" y="352044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3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split: the SW_SHELF faces (the shelf along the sidewall) cut at Station A and B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is removed and no new body is made: the shelf faces are divided at A and B and published as regions -- start 4 faces, middle 9, end 4. A later feature (a fillet, an offset, a Thicken+) can then work on 'middle' alone, and keeps working when the stations move.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475488" cy="475488"/>
          </a:xfrm>
          <a:prstGeom prst="roundRect">
            <a:avLst>
              <a:gd name="adj" fmla="val 15385"/>
            </a:avLst>
          </a:prstGeom>
          <a:solidFill>
            <a:srgbClr val="F3F5F8"/>
          </a:solidFill>
          <a:ln w="9525">
            <a:solidFill>
              <a:srgbClr val="D9D6C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365760"/>
            <a:ext cx="329184" cy="32918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78992" y="256032"/>
            <a:ext cx="7607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3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Outputs: what Extract variables can publish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47960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8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Split+  ·  Reference_Side_Features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5943600" y="47960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8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2026-09-25 (review 1 applied)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8961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51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 for Extract variables</a:t>
            </a:r>
            <a:endParaRPr lang="en-US" sz="1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2139696"/>
                <a:gridCol w="608990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holds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2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output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resulting piece.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near / far, start / middle* / end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pieces in each region: bodies (solids, surfaces or curves) in a Part split, faces in a Face split.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&lt;region&gt;Edges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region's edges except the cuts (for a surface: its open boundary).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outside / inside (+ Edges)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 + end together / every middle region together.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splitEdges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NEW edges along each cut line -- where a tool crosses a target. Keeping both sides leaves two coincident copies of every cut edge; only one is published. Input edges that were merely cut in two are not included.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cut, startCut / endCut, cut1..N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splitEdges sorted by the tool that made them (each edge goes to its nearest tool): 1 tool: cut; 2 tools: startCut, endCut; 3+: cut1..cutN. Topsheet example: startCut = the 5 edges at x 300.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splitFaces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cap faces the split created on solids (empty for surfaces and in a Face split).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pieceCount, regionCount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Numbers: pieces left; regions the tools define (N + 1 for N tools).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475488" cy="475488"/>
          </a:xfrm>
          <a:prstGeom prst="roundRect">
            <a:avLst>
              <a:gd name="adj" fmla="val 15385"/>
            </a:avLst>
          </a:prstGeom>
          <a:solidFill>
            <a:srgbClr val="F3F5F8"/>
          </a:solidFill>
          <a:ln w="9525">
            <a:solidFill>
              <a:srgbClr val="D9D6C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365760"/>
            <a:ext cx="329184" cy="32918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78992" y="256032"/>
            <a:ext cx="7607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3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Messages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47960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8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Split+  ·  Reference_Side_Features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5943600" y="47960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8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2026-09-25 (review 1 applied)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8961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51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Messages</a:t>
            </a:r>
            <a:endParaRPr lang="en-US" sz="1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987552"/>
                <a:gridCol w="724204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Message / what to do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2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C845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Error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tool is also a target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Pick it only once.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C845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Error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keep side reference lies on tool 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Move the reference clearly to one side of that tool.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C845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Error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Nothing is left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part of the targets is on the kept side of every tool.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AF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Split done; regions not published: ...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Tools cross, or were picked out of order. The split itself is fine.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475488" cy="475488"/>
          </a:xfrm>
          <a:prstGeom prst="roundRect">
            <a:avLst>
              <a:gd name="adj" fmla="val 15385"/>
            </a:avLst>
          </a:prstGeom>
          <a:solidFill>
            <a:srgbClr val="F3F5F8"/>
          </a:solidFill>
          <a:ln w="9525">
            <a:solidFill>
              <a:srgbClr val="D9D6C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365760"/>
            <a:ext cx="329184" cy="32918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78992" y="256032"/>
            <a:ext cx="7607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3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Tips and limits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47960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8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Split+  ·  Reference_Side_Features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5943600" y="47960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8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2026-09-25 (review 1 applied)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457200" y="960120"/>
            <a:ext cx="274320" cy="27432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57200" y="9601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41248" y="914400"/>
            <a:ext cx="3593592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3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 local reference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mate connector or vertex inside the region to keep. A far plane can read the wrong side where the part curves.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57200" y="2011680"/>
            <a:ext cx="274320" cy="27432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7200" y="2011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41248" y="1965960"/>
            <a:ext cx="3593592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3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tools along the part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 names follow pick order.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3063240"/>
            <a:ext cx="274320" cy="27432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57200" y="3063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841248" y="3017520"/>
            <a:ext cx="3593592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3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regions, not indices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variables can publish 'middle' or 'startCut'; those names survive changes upstream.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709160" y="960120"/>
            <a:ext cx="274320" cy="274320"/>
          </a:xfrm>
          <a:prstGeom prst="ellipse">
            <a:avLst/>
          </a:prstGeom>
          <a:solidFill>
            <a:srgbClr val="C9820A"/>
          </a:solidFill>
          <a:ln w="12700">
            <a:solidFill>
              <a:srgbClr val="C9820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709160" y="9601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5093208" y="914400"/>
            <a:ext cx="3593592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3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Outputs keep their input's orientation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reference picks the side to keep, not the normal: pieces face the way the input faced (the topsheet example faces down). Built-ins downstream (Thicken, Offset surface, Move face) follow that normal -- put Orient to reference before them, or use Thicken+ / Offset+.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709160" y="2011680"/>
            <a:ext cx="274320" cy="274320"/>
          </a:xfrm>
          <a:prstGeom prst="ellipse">
            <a:avLst/>
          </a:prstGeom>
          <a:solidFill>
            <a:srgbClr val="C9820A"/>
          </a:solidFill>
          <a:ln w="12700">
            <a:solidFill>
              <a:srgbClr val="C9820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709160" y="2011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5093208" y="1965960"/>
            <a:ext cx="3593592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3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tools are not offered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side rule needs a surface. Use the built-in Split for projected edges.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4709160" y="3063240"/>
            <a:ext cx="274320" cy="274320"/>
          </a:xfrm>
          <a:prstGeom prst="ellipse">
            <a:avLst/>
          </a:prstGeom>
          <a:solidFill>
            <a:srgbClr val="C9820A"/>
          </a:solidFill>
          <a:ln w="12700">
            <a:solidFill>
              <a:srgbClr val="C9820A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709160" y="3063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5093208" y="3017520"/>
            <a:ext cx="3593592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3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pieces are sorted into regions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Split+ checks which side of each tool ONE point of each piece lies on (its centre; for a face, the nearest point on the face). A piece that curls back across a tool's extended plane could land in the wrong region -- check regions with Show in Extract variables.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475488" cy="475488"/>
          </a:xfrm>
          <a:prstGeom prst="roundRect">
            <a:avLst>
              <a:gd name="adj" fmla="val 15385"/>
            </a:avLst>
          </a:prstGeom>
          <a:solidFill>
            <a:srgbClr val="F3F5F8"/>
          </a:solidFill>
          <a:ln w="9525">
            <a:solidFill>
              <a:srgbClr val="D9D6C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365760"/>
            <a:ext cx="329184" cy="32918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78992" y="256032"/>
            <a:ext cx="7607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3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lives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47960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8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Split+  ·  Reference_Side_Features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5943600" y="47960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8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2026-09-25 (review 1 applied)</a:t>
            </a:r>
            <a:endParaRPr lang="en-US" sz="9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6217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2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Document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Reference_Side_Features (22764764a00a7f607dbc1c4d)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split_plus  (uses reference_side_utils)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Reference side tests studio: S1-S10  -  devtools/onshape/check_reference_side_tests.py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Examples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topsheet_surf studio: Split+ topsheet into 3 regions, Split+ volume keep between A and B, Split+ faces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Explainer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docs/explainers/reference_side/reference_side_explained.md, section 2.2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Related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Mutual Trim+, Offset+, Thicken+ (same reference rule); Extract variables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Split+</dc:title>
  <dc:subject>PptxGenJS Presentation</dc:subject>
  <dc:creator>FeatureScript docs</dc:creator>
  <cp:lastModifiedBy>FeatureScript docs</cp:lastModifiedBy>
  <cp:revision>1</cp:revision>
  <dcterms:created xsi:type="dcterms:W3CDTF">2026-09-26T02:30:57Z</dcterms:created>
  <dcterms:modified xsi:type="dcterms:W3CDTF">2026-09-26T02:30:57Z</dcterms:modified>
</cp:coreProperties>
</file>