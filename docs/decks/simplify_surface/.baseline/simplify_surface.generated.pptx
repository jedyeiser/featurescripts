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B"/>
        </a:solidFill>
      </p:bgPr>
    </p:bg>
    <p:spTree>
      <p:nvGrpSpPr>
        <p:cNvPr id="1" name=""/>
        <p:cNvGrpSpPr/>
        <p:nvPr/>
      </p:nvGrpSpPr>
      <p:grpSpPr>
        <a:xfrm>
          <a:off x="0" y="0"/>
          <a:ext cx="0" cy="0"/>
          <a:chOff x="0" y="0"/>
          <a:chExt cx="0" cy="0"/>
        </a:xfrm>
      </p:grpSpPr>
      <p:sp>
        <p:nvSpPr>
          <p:cNvPr id="2" name="Shape 0"/>
          <p:cNvSpPr/>
          <p:nvPr/>
        </p:nvSpPr>
        <p:spPr>
          <a:xfrm>
            <a:off x="457200" y="1234440"/>
            <a:ext cx="1554480" cy="1554480"/>
          </a:xfrm>
          <a:prstGeom prst="roundRect">
            <a:avLst>
              <a:gd name="adj" fmla="val 10588"/>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685800" y="1463040"/>
            <a:ext cx="1097280" cy="1097280"/>
          </a:xfrm>
          <a:prstGeom prst="rect">
            <a:avLst/>
          </a:prstGeom>
        </p:spPr>
      </p:pic>
      <p:sp>
        <p:nvSpPr>
          <p:cNvPr id="4" name="Text 1"/>
          <p:cNvSpPr txBox="1"/>
          <p:nvPr/>
        </p:nvSpPr>
        <p:spPr>
          <a:xfrm>
            <a:off x="2377440" y="1188720"/>
            <a:ext cx="6309360" cy="868680"/>
          </a:xfrm>
          <a:prstGeom prst="rect">
            <a:avLst/>
          </a:prstGeom>
          <a:noFill/>
          <a:ln/>
        </p:spPr>
        <p:txBody>
          <a:bodyPr wrap="square" lIns="0" tIns="0" rIns="0" bIns="0" rtlCol="0" anchor="b"/>
          <a:lstStyle/>
          <a:p>
            <a:pPr indent="0" marL="0">
              <a:buNone/>
            </a:pPr>
            <a:r>
              <a:rPr lang="en-US" sz="4400" b="1" dirty="0">
                <a:solidFill>
                  <a:srgbClr val="FFFFFF"/>
                </a:solidFill>
                <a:latin typeface="Calibri" pitchFamily="34" charset="0"/>
                <a:ea typeface="Calibri" pitchFamily="34" charset="-122"/>
                <a:cs typeface="Calibri" pitchFamily="34" charset="-120"/>
              </a:rPr>
              <a:t>Simplify surface</a:t>
            </a:r>
            <a:endParaRPr lang="en-US" sz="4400" dirty="0"/>
          </a:p>
        </p:txBody>
      </p:sp>
      <p:sp>
        <p:nvSpPr>
          <p:cNvPr id="5" name="Text 2"/>
          <p:cNvSpPr txBox="1"/>
          <p:nvPr/>
        </p:nvSpPr>
        <p:spPr>
          <a:xfrm>
            <a:off x="2377440" y="2103120"/>
            <a:ext cx="6309360" cy="822960"/>
          </a:xfrm>
          <a:prstGeom prst="rect">
            <a:avLst/>
          </a:prstGeom>
          <a:noFill/>
          <a:ln/>
        </p:spPr>
        <p:txBody>
          <a:bodyPr wrap="square" lIns="0" tIns="0" rIns="0" bIns="0" rtlCol="0" anchor="t"/>
          <a:lstStyle/>
          <a:p>
            <a:pPr indent="0" marL="0">
              <a:buNone/>
            </a:pPr>
            <a:r>
              <a:rPr lang="en-US" sz="1600" dirty="0">
                <a:solidFill>
                  <a:srgbClr val="C9CED6"/>
                </a:solidFill>
                <a:latin typeface="Calibri" pitchFamily="34" charset="0"/>
                <a:ea typeface="Calibri" pitchFamily="34" charset="-122"/>
                <a:cs typeface="Calibri" pitchFamily="34" charset="-120"/>
              </a:rPr>
              <a:t>Rebuild a heavy face as a lighter cubic B-spline within a tolerance -- or replace it in place.</a:t>
            </a:r>
            <a:endParaRPr lang="en-US" sz="1600" dirty="0"/>
          </a:p>
        </p:txBody>
      </p:sp>
      <p:sp>
        <p:nvSpPr>
          <p:cNvPr id="6" name="Text 3"/>
          <p:cNvSpPr txBox="1"/>
          <p:nvPr/>
        </p:nvSpPr>
        <p:spPr>
          <a:xfrm>
            <a:off x="457200" y="4320540"/>
            <a:ext cx="5486400" cy="274320"/>
          </a:xfrm>
          <a:prstGeom prst="rect">
            <a:avLst/>
          </a:prstGeom>
          <a:noFill/>
          <a:ln/>
        </p:spPr>
        <p:txBody>
          <a:bodyPr wrap="square" lIns="0" tIns="0" rIns="0" bIns="0" rtlCol="0" anchor="ctr"/>
          <a:lstStyle/>
          <a:p>
            <a:pPr indent="0" marL="0">
              <a:buNone/>
            </a:pPr>
            <a:r>
              <a:rPr lang="en-US" sz="1100" dirty="0">
                <a:solidFill>
                  <a:srgbClr val="9AA3AE"/>
                </a:solidFill>
                <a:latin typeface="Calibri" pitchFamily="34" charset="0"/>
                <a:ea typeface="Calibri" pitchFamily="34" charset="-122"/>
                <a:cs typeface="Calibri" pitchFamily="34" charset="-120"/>
              </a:rPr>
              <a:t>gordonSurface  ·  Onshape custom feature</a:t>
            </a:r>
            <a:endParaRPr lang="en-US" sz="1100" dirty="0"/>
          </a:p>
        </p:txBody>
      </p:sp>
      <p:sp>
        <p:nvSpPr>
          <p:cNvPr id="7" name="Text 4"/>
          <p:cNvSpPr txBox="1"/>
          <p:nvPr/>
        </p:nvSpPr>
        <p:spPr>
          <a:xfrm>
            <a:off x="5943600" y="4320540"/>
            <a:ext cx="2743200" cy="274320"/>
          </a:xfrm>
          <a:prstGeom prst="rect">
            <a:avLst/>
          </a:prstGeom>
          <a:noFill/>
          <a:ln/>
        </p:spPr>
        <p:txBody>
          <a:bodyPr wrap="square" lIns="0" tIns="0" rIns="0" bIns="0" rtlCol="0" anchor="ctr"/>
          <a:lstStyle/>
          <a:p>
            <a:pPr algn="r" indent="0" marL="0">
              <a:buNone/>
            </a:pPr>
            <a:r>
              <a:rPr lang="en-US" sz="1100" dirty="0">
                <a:solidFill>
                  <a:srgbClr val="9AA3AE"/>
                </a:solidFill>
                <a:latin typeface="Calibri" pitchFamily="34" charset="0"/>
                <a:ea typeface="Calibri" pitchFamily="34" charset="-122"/>
                <a:cs typeface="Calibri" pitchFamily="34" charset="-120"/>
              </a:rPr>
              <a:t>Draft 2026-09-26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What it does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Simplify surface  ·  gordonSurface</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Text 4"/>
          <p:cNvSpPr txBox="1"/>
          <p:nvPr/>
        </p:nvSpPr>
        <p:spPr>
          <a:xfrm>
            <a:off x="457200" y="1005840"/>
            <a:ext cx="3749040" cy="1371600"/>
          </a:xfrm>
          <a:prstGeom prst="rect">
            <a:avLst/>
          </a:prstGeom>
          <a:noFill/>
          <a:ln/>
        </p:spPr>
        <p:txBody>
          <a:bodyPr wrap="square" lIns="0" tIns="0" rIns="0" bIns="0" rtlCol="0" anchor="t"/>
          <a:lstStyle/>
          <a:p>
            <a:pPr indent="0" marL="0">
              <a:buNone/>
            </a:pPr>
            <a:r>
              <a:rPr lang="en-US" sz="1400" dirty="0">
                <a:solidFill>
                  <a:srgbClr val="1F2329"/>
                </a:solidFill>
                <a:latin typeface="Calibri" pitchFamily="34" charset="0"/>
                <a:ea typeface="Calibri" pitchFamily="34" charset="-122"/>
                <a:cs typeface="Calibri" pitchFamily="34" charset="-120"/>
              </a:rPr>
              <a:t>Imported, derived and fitted faces carry far more control points than their shape needs, which slows and destabilises later features. Simplify surface finds, curve by curve, the fewest control points within your tolerance.</a:t>
            </a:r>
            <a:endParaRPr lang="en-US" sz="1400" dirty="0"/>
          </a:p>
        </p:txBody>
      </p:sp>
      <p:sp>
        <p:nvSpPr>
          <p:cNvPr id="8" name="Text 5"/>
          <p:cNvSpPr txBox="1"/>
          <p:nvPr/>
        </p:nvSpPr>
        <p:spPr>
          <a:xfrm>
            <a:off x="457200" y="2468880"/>
            <a:ext cx="3749040" cy="274320"/>
          </a:xfrm>
          <a:prstGeom prst="rect">
            <a:avLst/>
          </a:prstGeom>
          <a:noFill/>
          <a:ln/>
        </p:spPr>
        <p:txBody>
          <a:bodyPr wrap="square" lIns="0" tIns="0" rIns="0" bIns="0" rtlCol="0" anchor="ctr"/>
          <a:lstStyle/>
          <a:p>
            <a:pPr indent="0" marL="0">
              <a:buNone/>
            </a:pPr>
            <a:r>
              <a:rPr lang="en-US" sz="1300" b="1" dirty="0">
                <a:solidFill>
                  <a:srgbClr val="1651B0"/>
                </a:solidFill>
                <a:latin typeface="Calibri" pitchFamily="34" charset="0"/>
                <a:ea typeface="Calibri" pitchFamily="34" charset="-122"/>
                <a:cs typeface="Calibri" pitchFamily="34" charset="-120"/>
              </a:rPr>
              <a:t>Use it when</a:t>
            </a:r>
            <a:endParaRPr lang="en-US" sz="1300" dirty="0"/>
          </a:p>
        </p:txBody>
      </p:sp>
      <p:sp>
        <p:nvSpPr>
          <p:cNvPr id="9" name="Text 6"/>
          <p:cNvSpPr txBox="1"/>
          <p:nvPr/>
        </p:nvSpPr>
        <p:spPr>
          <a:xfrm>
            <a:off x="457200" y="2761488"/>
            <a:ext cx="374904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A heavy imported or fitted face</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Downstream features are slow or fail on a face</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Replace a face with a lighter one in place</a:t>
            </a:r>
            <a:endParaRPr lang="en-US" sz="1250" dirty="0"/>
          </a:p>
        </p:txBody>
      </p:sp>
      <p:pic>
        <p:nvPicPr>
          <p:cNvPr id="10" name="Image 1" descr="C:\Users\jed.yeiser\documents\featurescripts\docs\explainers\gordon_surface\img\fig05_compatibility.png">    </p:cNvPr>
          <p:cNvPicPr>
            <a:picLocks noChangeAspect="1"/>
          </p:cNvPicPr>
          <p:nvPr/>
        </p:nvPicPr>
        <p:blipFill>
          <a:blip r:embed="rId2"/>
          <a:stretch>
            <a:fillRect/>
          </a:stretch>
        </p:blipFill>
        <p:spPr>
          <a:xfrm>
            <a:off x="4480560" y="1953736"/>
            <a:ext cx="4206240" cy="1258889"/>
          </a:xfrm>
          <a:prstGeom prst="rect">
            <a:avLst/>
          </a:prstGeom>
        </p:spPr>
      </p:pic>
      <p:sp>
        <p:nvSpPr>
          <p:cNvPr id="11" name="Text 7"/>
          <p:cNvSpPr txBox="1"/>
          <p:nvPr/>
        </p:nvSpPr>
        <p:spPr>
          <a:xfrm>
            <a:off x="4480560" y="4224528"/>
            <a:ext cx="4206240" cy="365760"/>
          </a:xfrm>
          <a:prstGeom prst="rect">
            <a:avLst/>
          </a:prstGeom>
          <a:noFill/>
          <a:ln/>
        </p:spPr>
        <p:txBody>
          <a:bodyPr wrap="square" lIns="0" tIns="0" rIns="0" bIns="0"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Station curves are reduced, made compatible and skinned.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Simplify surface  ·  gordonSurface</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Shape 4"/>
          <p:cNvSpPr/>
          <p:nvPr/>
        </p:nvSpPr>
        <p:spPr>
          <a:xfrm>
            <a:off x="777240" y="914400"/>
            <a:ext cx="2743200" cy="3611880"/>
          </a:xfrm>
          <a:prstGeom prst="rect">
            <a:avLst/>
          </a:prstGeom>
          <a:solidFill>
            <a:srgbClr val="F3F5F8"/>
          </a:solidFill>
          <a:ln w="12700">
            <a:solidFill>
              <a:srgbClr val="8A8883"/>
            </a:solidFill>
            <a:prstDash val="dash"/>
          </a:ln>
        </p:spPr>
      </p:sp>
      <p:sp>
        <p:nvSpPr>
          <p:cNvPr id="8" name="Text 5"/>
          <p:cNvSpPr txBox="1"/>
          <p:nvPr/>
        </p:nvSpPr>
        <p:spPr>
          <a:xfrm>
            <a:off x="777240" y="914400"/>
            <a:ext cx="2743200" cy="3611880"/>
          </a:xfrm>
          <a:prstGeom prst="rect">
            <a:avLst/>
          </a:prstGeom>
          <a:noFill/>
          <a:ln/>
        </p:spPr>
        <p:txBody>
          <a:bodyPr wrap="square" lIns="76200" tIns="76200" rIns="76200" bIns="76200" rtlCol="0" anchor="ctr"/>
          <a:lstStyle/>
          <a:p>
            <a:pPr algn="ctr" indent="0" marL="0">
              <a:buNone/>
            </a:pPr>
            <a:r>
              <a:rPr lang="en-US" sz="1100" dirty="0">
                <a:solidFill>
                  <a:srgbClr val="8A8883"/>
                </a:solidFill>
                <a:latin typeface="Calibri" pitchFamily="34" charset="0"/>
                <a:ea typeface="Calibri" pitchFamily="34" charset="-122"/>
                <a:cs typeface="Calibri" pitchFamily="34" charset="-120"/>
              </a:rPr>
              <a:t>IMAGE MISSING: docs/decks/simplify_surface/shots/dialog.png</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The face to simplify.</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Tolerance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0.01-100 mm (1 mm).</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Continuity</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G0 / G1 / G2 end derivatives along v (G2 mode has no effect).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Mode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AUTO (Greville stations, binary search per curve) / MANUAL (U, V counts).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Replace 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Replace the source face instead of a new sheet.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Debug print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Console.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Outputs and messages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Simplify surface  ·  gordonSurface</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Text 4"/>
          <p:cNvSpPr txBox="1"/>
          <p:nvPr/>
        </p:nvSpPr>
        <p:spPr>
          <a:xfrm>
            <a:off x="457200" y="896112"/>
            <a:ext cx="388620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Outputs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886200" cy="914400"/>
        </p:xfrm>
        <a:graphic>
          <a:graphicData uri="http://schemas.openxmlformats.org/drawingml/2006/table">
            <a:tbl>
              <a:tblPr/>
              <a:tblGrid>
                <a:gridCol w="1399032"/>
                <a:gridCol w="2487168"/>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holds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simplified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new sheet (or the replaced face).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
        <p:nvSpPr>
          <p:cNvPr id="9" name="Text 5"/>
          <p:cNvSpPr txBox="1"/>
          <p:nvPr/>
        </p:nvSpPr>
        <p:spPr>
          <a:xfrm>
            <a:off x="4617720" y="896112"/>
            <a:ext cx="406908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Messages</a:t>
            </a:r>
            <a:endParaRPr lang="en-US" sz="12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1188720"/>
          <a:ext cx="4069080" cy="914400"/>
        </p:xfrm>
        <a:graphic>
          <a:graphicData uri="http://schemas.openxmlformats.org/drawingml/2006/table">
            <a:tbl>
              <a:tblPr/>
              <a:tblGrid>
                <a:gridCol w="813816"/>
                <a:gridCol w="3255264"/>
              </a:tblGrid>
              <a:tr h="0">
                <a:tc>
                  <a:txBody>
                    <a:bodyPr/>
                    <a:lstStyle/>
                    <a:p>
                      <a:pPr indent="0" marL="0">
                        <a:buNone/>
                      </a:pP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 / what to do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BAF7A"/>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Tips and limits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Simplify surface  ·  gordonSurface</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Shape 4"/>
          <p:cNvSpPr/>
          <p:nvPr/>
        </p:nvSpPr>
        <p:spPr>
          <a:xfrm>
            <a:off x="457200" y="960120"/>
            <a:ext cx="274320" cy="274320"/>
          </a:xfrm>
          <a:prstGeom prst="ellipse">
            <a:avLst/>
          </a:prstGeom>
          <a:solidFill>
            <a:srgbClr val="C9820A"/>
          </a:solidFill>
          <a:ln w="12700">
            <a:solidFill>
              <a:srgbClr val="C9820A"/>
            </a:solidFill>
            <a:prstDash val="solid"/>
          </a:ln>
        </p:spPr>
      </p:sp>
      <p:sp>
        <p:nvSpPr>
          <p:cNvPr id="8" name="Text 5"/>
          <p:cNvSpPr txBox="1"/>
          <p:nvPr/>
        </p:nvSpPr>
        <p:spPr>
          <a:xfrm>
            <a:off x="457200" y="9601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txBox="1"/>
          <p:nvPr/>
        </p:nvSpPr>
        <p:spPr>
          <a:xfrm>
            <a:off x="841248" y="91440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Checked on stations</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The error is measured along the station curves only.</a:t>
            </a:r>
            <a:endParaRPr lang="en-US" sz="1100" dirty="0"/>
          </a:p>
        </p:txBody>
      </p:sp>
      <p:sp>
        <p:nvSpPr>
          <p:cNvPr id="10" name="Shape 7"/>
          <p:cNvSpPr/>
          <p:nvPr/>
        </p:nvSpPr>
        <p:spPr>
          <a:xfrm>
            <a:off x="457200" y="2011680"/>
            <a:ext cx="274320" cy="274320"/>
          </a:xfrm>
          <a:prstGeom prst="ellipse">
            <a:avLst/>
          </a:prstGeom>
          <a:solidFill>
            <a:srgbClr val="C9820A"/>
          </a:solidFill>
          <a:ln w="12700">
            <a:solidFill>
              <a:srgbClr val="C9820A"/>
            </a:solidFill>
            <a:prstDash val="solid"/>
          </a:ln>
        </p:spPr>
      </p:sp>
      <p:sp>
        <p:nvSpPr>
          <p:cNvPr id="11" name="Text 8"/>
          <p:cNvSpPr txBox="1"/>
          <p:nvPr/>
        </p:nvSpPr>
        <p:spPr>
          <a:xfrm>
            <a:off x="45720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41248" y="196596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Compatibility re-inflates</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The final count follows the most complex station; G1 needs about 6 control points.</a:t>
            </a:r>
            <a:endParaRPr lang="en-US" sz="1100" dirty="0"/>
          </a:p>
        </p:txBody>
      </p:sp>
      <p:sp>
        <p:nvSpPr>
          <p:cNvPr id="13" name="Shape 10"/>
          <p:cNvSpPr/>
          <p:nvPr/>
        </p:nvSpPr>
        <p:spPr>
          <a:xfrm>
            <a:off x="457200" y="3063240"/>
            <a:ext cx="274320" cy="274320"/>
          </a:xfrm>
          <a:prstGeom prst="ellipse">
            <a:avLst/>
          </a:prstGeom>
          <a:solidFill>
            <a:srgbClr val="C9820A"/>
          </a:solidFill>
          <a:ln w="12700">
            <a:solidFill>
              <a:srgbClr val="C9820A"/>
            </a:solidFill>
            <a:prstDash val="solid"/>
          </a:ln>
        </p:spPr>
      </p:sp>
      <p:sp>
        <p:nvSpPr>
          <p:cNvPr id="14" name="Text 11"/>
          <p:cNvSpPr txBox="1"/>
          <p:nvPr/>
        </p:nvSpPr>
        <p:spPr>
          <a:xfrm>
            <a:off x="457200" y="30632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2"/>
          <p:cNvSpPr txBox="1"/>
          <p:nvPr/>
        </p:nvSpPr>
        <p:spPr>
          <a:xfrm>
            <a:off x="841248" y="301752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Untested</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No test fixture yet.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Where it lives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Simplify surface  ·  gordonSurface</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011680"/>
                <a:gridCol w="6217920"/>
              </a:tblGrid>
              <a:tr h="0">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Document</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gordonSurface (d0950ed72a894fbe35c27d43)</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Tab</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simplifySurface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none yet</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Test Part Studio 1: Simplify surface 1</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Explainer</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docs/explainers/gordon_surface/gordon_surface_explained.md, section 2.6</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Related</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Gordon Surface, Interior curves, Scaled Curve, Modify curve end, Pull surface, Simplify surface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Simplify surface</dc:title>
  <dc:subject>PptxGenJS Presentation</dc:subject>
  <dc:creator>FeatureScript docs</dc:creator>
  <cp:lastModifiedBy>FeatureScript docs</cp:lastModifiedBy>
  <cp:revision>1</cp:revision>
  <dcterms:created xsi:type="dcterms:W3CDTF">2026-09-26T19:27:19Z</dcterms:created>
  <dcterms:modified xsi:type="dcterms:W3CDTF">2026-09-26T19:27:19Z</dcterms:modified>
</cp:coreProperties>
</file>